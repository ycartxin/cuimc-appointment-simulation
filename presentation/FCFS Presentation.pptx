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1"/>
  </p:sldMasterIdLst>
  <p:notesMasterIdLst>
    <p:notesMasterId r:id="rId24"/>
  </p:notesMasterIdLst>
  <p:sldIdLst>
    <p:sldId id="256" r:id="rId2"/>
    <p:sldId id="265" r:id="rId3"/>
    <p:sldId id="269" r:id="rId4"/>
    <p:sldId id="257" r:id="rId5"/>
    <p:sldId id="271" r:id="rId6"/>
    <p:sldId id="270" r:id="rId7"/>
    <p:sldId id="268" r:id="rId8"/>
    <p:sldId id="260" r:id="rId9"/>
    <p:sldId id="280" r:id="rId10"/>
    <p:sldId id="279" r:id="rId11"/>
    <p:sldId id="261" r:id="rId12"/>
    <p:sldId id="278" r:id="rId13"/>
    <p:sldId id="263" r:id="rId14"/>
    <p:sldId id="266" r:id="rId15"/>
    <p:sldId id="267" r:id="rId16"/>
    <p:sldId id="272" r:id="rId17"/>
    <p:sldId id="273" r:id="rId18"/>
    <p:sldId id="274" r:id="rId19"/>
    <p:sldId id="275" r:id="rId20"/>
    <p:sldId id="277" r:id="rId21"/>
    <p:sldId id="281" r:id="rId22"/>
    <p:sldId id="276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671B4"/>
    <a:srgbClr val="99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11" autoAdjust="0"/>
    <p:restoredTop sz="79853" autoAdjust="0"/>
  </p:normalViewPr>
  <p:slideViewPr>
    <p:cSldViewPr snapToGrid="0">
      <p:cViewPr varScale="1">
        <p:scale>
          <a:sx n="72" d="100"/>
          <a:sy n="72" d="100"/>
        </p:scale>
        <p:origin x="60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F00E0A-26B8-438F-8C49-C4126C0B2F07}" type="datetimeFigureOut">
              <a:rPr lang="en-CA" smtClean="0"/>
              <a:t>2026-09-23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0CC533-38F2-4480-88E0-3DE04AB45AF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772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3333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6100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80388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059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72708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Make sure formatting corresponds with the previous slide, put explanation top left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557823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Slide 1 is three no-show figures</a:t>
            </a:r>
          </a:p>
          <a:p>
            <a:endParaRPr lang="en-CA" dirty="0"/>
          </a:p>
          <a:p>
            <a:r>
              <a:rPr lang="en-CA" dirty="0"/>
              <a:t>Can use red circles </a:t>
            </a:r>
          </a:p>
          <a:p>
            <a:endParaRPr lang="en-CA" dirty="0"/>
          </a:p>
          <a:p>
            <a:r>
              <a:rPr lang="en-CA" dirty="0"/>
              <a:t>Change axis labels</a:t>
            </a:r>
          </a:p>
          <a:p>
            <a:endParaRPr lang="en-CA" dirty="0"/>
          </a:p>
          <a:p>
            <a:r>
              <a:rPr lang="en-CA" dirty="0"/>
              <a:t>Take off specific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40850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380421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86335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26810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2776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blurry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867337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Add that y-axis is median across balking, blurry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798151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Y-axis?</a:t>
            </a:r>
          </a:p>
          <a:p>
            <a:endParaRPr lang="en-CA" dirty="0"/>
          </a:p>
          <a:p>
            <a:r>
              <a:rPr lang="en-CA" dirty="0"/>
              <a:t>Add figure explaining tau or delay</a:t>
            </a:r>
          </a:p>
          <a:p>
            <a:endParaRPr lang="en-CA" dirty="0"/>
          </a:p>
          <a:p>
            <a:r>
              <a:rPr lang="en-CA" dirty="0"/>
              <a:t>Add utilization performance, then compare – refer to picture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31334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Give one concrete example first, scenario of how both classes could win</a:t>
            </a:r>
          </a:p>
          <a:p>
            <a:endParaRPr lang="en-CA" dirty="0"/>
          </a:p>
          <a:p>
            <a:r>
              <a:rPr lang="en-CA" dirty="0"/>
              <a:t>pareto improvement for served rate- win-wins</a:t>
            </a:r>
          </a:p>
          <a:p>
            <a:endParaRPr lang="en-CA" dirty="0"/>
          </a:p>
          <a:p>
            <a:r>
              <a:rPr lang="en-CA" dirty="0"/>
              <a:t>Served rate optimization for horizon?, </a:t>
            </a:r>
          </a:p>
          <a:p>
            <a:endParaRPr lang="en-CA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/>
              <a:t>What about revenue findings?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43093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2026-09-23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5299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2026-09-23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54994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2026-09-23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9542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2026-09-23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4985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2026-09-23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1115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2026-09-23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908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2026-09-23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98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2026-09-23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7081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2026-09-23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68738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2026-09-23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7739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2026-09-23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8560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59F276-CA16-4B7F-AC4C-2EDD18BC89A1}" type="datetimeFigureOut">
              <a:rPr lang="en-CA" smtClean="0"/>
              <a:t>2026-09-23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510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3D895-4164-4829-990F-701F05D727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5354" y="1813719"/>
            <a:ext cx="8424986" cy="2586344"/>
          </a:xfrm>
          <a:ln w="19050">
            <a:solidFill>
              <a:schemeClr val="accent5"/>
            </a:solidFill>
          </a:ln>
        </p:spPr>
        <p:txBody>
          <a:bodyPr anchor="ctr">
            <a:normAutofit/>
          </a:bodyPr>
          <a:lstStyle/>
          <a:p>
            <a:r>
              <a:rPr lang="en-CA" sz="5400" dirty="0">
                <a:solidFill>
                  <a:schemeClr val="bg1"/>
                </a:solidFill>
              </a:rPr>
              <a:t>Delay-Sensitive Behavior and Patient Access in First Come First Serve</a:t>
            </a:r>
          </a:p>
        </p:txBody>
      </p:sp>
      <p:sp>
        <p:nvSpPr>
          <p:cNvPr id="4" name="Right Triangle 3">
            <a:extLst>
              <a:ext uri="{FF2B5EF4-FFF2-40B4-BE49-F238E27FC236}">
                <a16:creationId xmlns:a16="http://schemas.microsoft.com/office/drawing/2014/main" id="{58216D77-F8D2-4FFF-AE59-C966B9A38E6C}"/>
              </a:ext>
            </a:extLst>
          </p:cNvPr>
          <p:cNvSpPr/>
          <p:nvPr/>
        </p:nvSpPr>
        <p:spPr>
          <a:xfrm rot="16200000">
            <a:off x="11030339" y="5696339"/>
            <a:ext cx="1222310" cy="1101012"/>
          </a:xfrm>
          <a:prstGeom prst="rt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36641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94EED-0BE8-4240-9E72-6B2AA15A9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967" y="2262256"/>
            <a:ext cx="10515600" cy="1422400"/>
          </a:xfrm>
        </p:spPr>
        <p:txBody>
          <a:bodyPr>
            <a:normAutofit fontScale="92500"/>
          </a:bodyPr>
          <a:lstStyle/>
          <a:p>
            <a:r>
              <a:rPr lang="en-CA" dirty="0"/>
              <a:t>Long waits can change patient behavior, leading to no-show and balking.</a:t>
            </a:r>
          </a:p>
          <a:p>
            <a:r>
              <a:rPr lang="en-CA" dirty="0"/>
              <a:t>These behaviors lower overall served rate and waste utilization capacity.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C2B1E70-B1C0-4E07-B39D-21A7CC363E39}"/>
              </a:ext>
            </a:extLst>
          </p:cNvPr>
          <p:cNvSpPr txBox="1">
            <a:spLocks/>
          </p:cNvSpPr>
          <p:nvPr/>
        </p:nvSpPr>
        <p:spPr>
          <a:xfrm>
            <a:off x="668740" y="450499"/>
            <a:ext cx="10671412" cy="1586768"/>
          </a:xfrm>
          <a:prstGeom prst="rect">
            <a:avLst/>
          </a:prstGeom>
          <a:ln w="19050">
            <a:solidFill>
              <a:schemeClr val="accent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/>
              <a:t>Existing appointment scheduling approaches lead to long wait and idleness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5A85636-B2D4-4CAF-B695-C0FA4DEBE07E}"/>
              </a:ext>
            </a:extLst>
          </p:cNvPr>
          <p:cNvSpPr txBox="1">
            <a:spLocks/>
          </p:cNvSpPr>
          <p:nvPr/>
        </p:nvSpPr>
        <p:spPr>
          <a:xfrm>
            <a:off x="532320" y="3438139"/>
            <a:ext cx="11222893" cy="898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dirty="0"/>
              <a:t>Question: How does patient sensitivity to appointment delay affect patient access and efficiency?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7C5C35-1296-4D98-B436-296206CDD211}"/>
              </a:ext>
            </a:extLst>
          </p:cNvPr>
          <p:cNvSpPr txBox="1"/>
          <p:nvPr/>
        </p:nvSpPr>
        <p:spPr>
          <a:xfrm>
            <a:off x="1704264" y="4362708"/>
            <a:ext cx="8783472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800" dirty="0"/>
              <a:t>We focus on three metrics: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Average utilization:</a:t>
            </a:r>
            <a:r>
              <a:rPr lang="en-CA" sz="2400" dirty="0"/>
              <a:t> on average, the fraction of appointment capacity that becomes completed visits.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Served rate: </a:t>
            </a:r>
            <a:r>
              <a:rPr lang="en-CA" sz="2400" dirty="0"/>
              <a:t>the fraction of arriving patients that receive care.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Waiting time:</a:t>
            </a:r>
            <a:r>
              <a:rPr lang="en-CA" sz="2400" dirty="0"/>
              <a:t> the average delay of all appointments offered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D840E3-5C3C-4C2B-9D2C-0C36849BE12C}"/>
              </a:ext>
            </a:extLst>
          </p:cNvPr>
          <p:cNvCxnSpPr>
            <a:cxnSpLocks/>
          </p:cNvCxnSpPr>
          <p:nvPr/>
        </p:nvCxnSpPr>
        <p:spPr>
          <a:xfrm>
            <a:off x="607325" y="4230806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462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75A36-4458-4BA4-94FE-87FC979B0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690" y="555792"/>
            <a:ext cx="10515600" cy="1325563"/>
          </a:xfrm>
        </p:spPr>
        <p:txBody>
          <a:bodyPr/>
          <a:lstStyle/>
          <a:p>
            <a:r>
              <a:rPr lang="en-CA" dirty="0"/>
              <a:t>Patient delay-sensitive behaviors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9F570-54EE-4EB6-AF28-B82B400E4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1879" y="2381535"/>
            <a:ext cx="4204648" cy="3167632"/>
          </a:xfrm>
          <a:ln w="28575">
            <a:solidFill>
              <a:schemeClr val="accent5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endParaRPr lang="en-CA" sz="3200" dirty="0"/>
          </a:p>
          <a:p>
            <a:pPr marL="0" indent="0" algn="ctr">
              <a:buNone/>
            </a:pPr>
            <a:r>
              <a:rPr lang="en-CA" sz="3200" dirty="0"/>
              <a:t>Balking</a:t>
            </a:r>
          </a:p>
          <a:p>
            <a:pPr marL="0" indent="0">
              <a:buNone/>
            </a:pPr>
            <a:endParaRPr lang="en-CA" sz="1600" dirty="0"/>
          </a:p>
          <a:p>
            <a:pPr marL="0" indent="0" algn="ctr">
              <a:buNone/>
            </a:pPr>
            <a:r>
              <a:rPr lang="en-CA" dirty="0"/>
              <a:t>The patient is offered an appointment, but decides to not take it because the wait is too long.</a:t>
            </a:r>
            <a:endParaRPr lang="en-CA" sz="3200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2962AA-5B4F-4467-8043-1E3C1F42FDA1}"/>
              </a:ext>
            </a:extLst>
          </p:cNvPr>
          <p:cNvSpPr txBox="1">
            <a:spLocks/>
          </p:cNvSpPr>
          <p:nvPr/>
        </p:nvSpPr>
        <p:spPr>
          <a:xfrm>
            <a:off x="6362131" y="2381535"/>
            <a:ext cx="4204648" cy="3167632"/>
          </a:xfrm>
          <a:prstGeom prst="rect">
            <a:avLst/>
          </a:prstGeom>
          <a:ln w="28575">
            <a:solidFill>
              <a:schemeClr val="accent5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CA" sz="32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CA" sz="3200" dirty="0"/>
              <a:t>No-show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CA" sz="16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CA" dirty="0"/>
              <a:t>The patient is offered an appointment, but decides to not show-up because the wait is too long.</a:t>
            </a:r>
            <a:endParaRPr lang="en-CA" sz="3200" dirty="0"/>
          </a:p>
          <a:p>
            <a:pPr marL="0" indent="0">
              <a:buFont typeface="Arial" panose="020B0604020202020204" pitchFamily="34" charset="0"/>
              <a:buNone/>
            </a:pPr>
            <a:endParaRPr lang="en-CA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E56468-AE16-4715-8196-6A22D5D4D820}"/>
              </a:ext>
            </a:extLst>
          </p:cNvPr>
          <p:cNvCxnSpPr/>
          <p:nvPr/>
        </p:nvCxnSpPr>
        <p:spPr>
          <a:xfrm>
            <a:off x="878540" y="1562568"/>
            <a:ext cx="781448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1142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94E28A-409C-4609-BC33-BA43ED9842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454" y="182462"/>
            <a:ext cx="9917092" cy="558133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89932-B7AC-427E-BEBC-D83D8C5098D4}"/>
              </a:ext>
            </a:extLst>
          </p:cNvPr>
          <p:cNvSpPr txBox="1">
            <a:spLocks/>
          </p:cNvSpPr>
          <p:nvPr/>
        </p:nvSpPr>
        <p:spPr>
          <a:xfrm>
            <a:off x="727587" y="5881127"/>
            <a:ext cx="10842523" cy="1028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dirty="0"/>
              <a:t>30 day burn-in          365-day measurement period          10-day cooldown 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124CE662-62E3-4BD8-B58D-CD6F43CCE2D4}"/>
              </a:ext>
            </a:extLst>
          </p:cNvPr>
          <p:cNvSpPr/>
          <p:nvPr/>
        </p:nvSpPr>
        <p:spPr>
          <a:xfrm>
            <a:off x="3089786" y="6043151"/>
            <a:ext cx="486697" cy="140110"/>
          </a:xfrm>
          <a:prstGeom prst="right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F5541E3-9F21-4C57-8E64-5F98605BC058}"/>
              </a:ext>
            </a:extLst>
          </p:cNvPr>
          <p:cNvSpPr/>
          <p:nvPr/>
        </p:nvSpPr>
        <p:spPr>
          <a:xfrm>
            <a:off x="8197644" y="6043151"/>
            <a:ext cx="486697" cy="140110"/>
          </a:xfrm>
          <a:prstGeom prst="right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4397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33CC-5640-40DD-82F7-8C55D31A5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42" y="143347"/>
            <a:ext cx="11213210" cy="1325563"/>
          </a:xfrm>
        </p:spPr>
        <p:txBody>
          <a:bodyPr/>
          <a:lstStyle/>
          <a:p>
            <a:r>
              <a:rPr lang="en-CA" dirty="0"/>
              <a:t>Threshold mechanisms: probabilities and delay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00A5A-4B37-44F0-B338-F679E868F6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4958" y="1258552"/>
            <a:ext cx="10515600" cy="683544"/>
          </a:xfrm>
        </p:spPr>
        <p:txBody>
          <a:bodyPr/>
          <a:lstStyle/>
          <a:p>
            <a:r>
              <a:rPr lang="en-CA" dirty="0"/>
              <a:t>For both no-show and balking behavior of both classes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6C956F-E1E0-433E-B511-6DB5B8C188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2891" y="1942096"/>
            <a:ext cx="8322891" cy="438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244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3D558-104E-46B9-A53B-CC248BF90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7719" y="321438"/>
            <a:ext cx="11024364" cy="1325563"/>
          </a:xfrm>
        </p:spPr>
        <p:txBody>
          <a:bodyPr>
            <a:normAutofit/>
          </a:bodyPr>
          <a:lstStyle/>
          <a:p>
            <a:r>
              <a:rPr lang="en-CA" sz="4000" dirty="0"/>
              <a:t>Demand is a big driver of served rate compounded by no-show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B142A21-9007-416F-96C9-0308DFA23117}"/>
              </a:ext>
            </a:extLst>
          </p:cNvPr>
          <p:cNvSpPr txBox="1">
            <a:spLocks/>
          </p:cNvSpPr>
          <p:nvPr/>
        </p:nvSpPr>
        <p:spPr>
          <a:xfrm>
            <a:off x="463859" y="5400498"/>
            <a:ext cx="11264281" cy="113606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Under high demand, arrival becomes the main driver for served rate.</a:t>
            </a:r>
          </a:p>
          <a:p>
            <a:r>
              <a:rPr lang="en-CA" dirty="0"/>
              <a:t>Balking rate has minimal effect while an increase in no-show post probability further drives down served rate.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A07281E-6E5D-46F7-ADDC-8584EE6A46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03" y="1812702"/>
            <a:ext cx="5400261" cy="3403452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325E58-3055-4045-B165-07194A78D8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700" y="1641844"/>
            <a:ext cx="5671360" cy="357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586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96ABB-6D63-436C-B8C2-BB1B556FC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883" y="134673"/>
            <a:ext cx="10832711" cy="1479306"/>
          </a:xfrm>
        </p:spPr>
        <p:txBody>
          <a:bodyPr>
            <a:normAutofit/>
          </a:bodyPr>
          <a:lstStyle/>
          <a:p>
            <a:r>
              <a:rPr lang="en-CA" sz="4000" dirty="0"/>
              <a:t>Under heavy demand, balking post probability shifts appointments to the more wait-tolerant group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12D7A2-18E8-4A84-A31C-045F3288589C}"/>
              </a:ext>
            </a:extLst>
          </p:cNvPr>
          <p:cNvSpPr txBox="1">
            <a:spLocks/>
          </p:cNvSpPr>
          <p:nvPr/>
        </p:nvSpPr>
        <p:spPr>
          <a:xfrm>
            <a:off x="780883" y="5587592"/>
            <a:ext cx="10832711" cy="92221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Overall utilization and served rate is not impacted by balking post probability.</a:t>
            </a:r>
          </a:p>
          <a:p>
            <a:r>
              <a:rPr lang="en-CA" dirty="0"/>
              <a:t>The wait-tolerant group takes over balked slots.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BBDB6B9-A299-4D1A-8014-E1BF9DAF6F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977" y="1703951"/>
            <a:ext cx="5724023" cy="3607499"/>
          </a:xfr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81811C4-4438-442A-AC72-A8CED8D9BD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03951"/>
            <a:ext cx="5724024" cy="3607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808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FFC9F-4A35-4BE1-A567-4D59D0BCA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5144"/>
            <a:ext cx="10515600" cy="1325563"/>
          </a:xfrm>
        </p:spPr>
        <p:txBody>
          <a:bodyPr>
            <a:normAutofit/>
          </a:bodyPr>
          <a:lstStyle/>
          <a:p>
            <a:r>
              <a:rPr lang="en-CA" sz="4000" dirty="0"/>
              <a:t>No-shows reduce average utilization and cause unrecoverable loss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7E130-5C03-41C6-B156-F4E306367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28" y="5572368"/>
            <a:ext cx="11728256" cy="108251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CA" sz="2400" dirty="0"/>
              <a:t>In addition to the </a:t>
            </a:r>
            <a:r>
              <a:rPr lang="en-CA" sz="2400" b="1" dirty="0"/>
              <a:t>post probability</a:t>
            </a:r>
            <a:r>
              <a:rPr lang="en-CA" sz="2400" dirty="0"/>
              <a:t> of no-show and balking, the</a:t>
            </a:r>
            <a:r>
              <a:rPr lang="en-CA" sz="2400" b="1" dirty="0"/>
              <a:t> delay </a:t>
            </a:r>
            <a:r>
              <a:rPr lang="en-CA" sz="2400" dirty="0"/>
              <a:t>also matters.</a:t>
            </a:r>
          </a:p>
          <a:p>
            <a:r>
              <a:rPr lang="en-CA" sz="2400" dirty="0"/>
              <a:t>For example, no-show threshold changes let more/less bookings fall before the no-show threshold.</a:t>
            </a:r>
          </a:p>
          <a:p>
            <a:pPr marL="0" indent="0">
              <a:buNone/>
            </a:pPr>
            <a:endParaRPr lang="en-CA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A8BDFE-1BF3-4206-B4F7-C70774685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522" y="1828805"/>
            <a:ext cx="5673194" cy="35754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83DFAC-3F4A-46F9-97E5-0E86633BCF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7716" y="1716444"/>
            <a:ext cx="5851478" cy="368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064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CB269-FF68-4079-8A14-79E62DA42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834" y="270858"/>
            <a:ext cx="11693165" cy="982907"/>
          </a:xfrm>
        </p:spPr>
        <p:txBody>
          <a:bodyPr>
            <a:normAutofit fontScale="90000"/>
          </a:bodyPr>
          <a:lstStyle/>
          <a:p>
            <a:r>
              <a:rPr lang="en-CA" dirty="0"/>
              <a:t>No-show vs. balking, how do they affect served rate?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FCFDC2-EA91-4801-BBEF-0EB14B7596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991" y="1558476"/>
            <a:ext cx="10984117" cy="51488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6FC68E-1E8D-43D9-8ADA-D8CC1BC28967}"/>
              </a:ext>
            </a:extLst>
          </p:cNvPr>
          <p:cNvSpPr txBox="1"/>
          <p:nvPr/>
        </p:nvSpPr>
        <p:spPr>
          <a:xfrm>
            <a:off x="1158711" y="1146813"/>
            <a:ext cx="31681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800" u="sng" dirty="0"/>
              <a:t>Experiment design</a:t>
            </a:r>
          </a:p>
        </p:txBody>
      </p:sp>
    </p:spTree>
    <p:extLst>
      <p:ext uri="{BB962C8B-B14F-4D97-AF65-F5344CB8AC3E}">
        <p14:creationId xmlns:p14="http://schemas.microsoft.com/office/powerpoint/2010/main" val="1017330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3FCA0-7281-4BE9-BD26-A09DD645F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651" y="21072"/>
            <a:ext cx="10879554" cy="995271"/>
          </a:xfrm>
        </p:spPr>
        <p:txBody>
          <a:bodyPr>
            <a:normAutofit fontScale="90000"/>
          </a:bodyPr>
          <a:lstStyle/>
          <a:p>
            <a:r>
              <a:rPr lang="en-CA" dirty="0"/>
              <a:t>No-show heavily impacts the class’s own served rate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E6F38F5-161F-4F18-8269-4DCDFE3D9C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51" y="857751"/>
            <a:ext cx="4735428" cy="298444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C8A84CE-B2A0-4BD0-A858-F64E64014E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51" y="3778579"/>
            <a:ext cx="4735429" cy="2984449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BDF6EEBB-ED9C-4CA4-8619-C65E53317E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8787" y="952721"/>
            <a:ext cx="4434049" cy="2794508"/>
          </a:xfrm>
        </p:spPr>
      </p:pic>
      <p:sp>
        <p:nvSpPr>
          <p:cNvPr id="20" name="Content Placeholder 11">
            <a:extLst>
              <a:ext uri="{FF2B5EF4-FFF2-40B4-BE49-F238E27FC236}">
                <a16:creationId xmlns:a16="http://schemas.microsoft.com/office/drawing/2014/main" id="{8F0E5391-B710-4675-9FC0-8DA497457A3A}"/>
              </a:ext>
            </a:extLst>
          </p:cNvPr>
          <p:cNvSpPr txBox="1">
            <a:spLocks/>
          </p:cNvSpPr>
          <p:nvPr/>
        </p:nvSpPr>
        <p:spPr>
          <a:xfrm>
            <a:off x="5758785" y="3968521"/>
            <a:ext cx="6060524" cy="279450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400" dirty="0"/>
              <a:t>No-show’s served rate impacts come from the change in each class’s post probability. </a:t>
            </a:r>
          </a:p>
          <a:p>
            <a:endParaRPr lang="en-CA" sz="1100" dirty="0"/>
          </a:p>
          <a:p>
            <a:r>
              <a:rPr lang="en-CA" sz="2400" dirty="0"/>
              <a:t>This impact is most severe from pre probability with low demand.</a:t>
            </a:r>
          </a:p>
          <a:p>
            <a:endParaRPr lang="en-CA" sz="1600" dirty="0"/>
          </a:p>
          <a:p>
            <a:r>
              <a:rPr lang="en-CA" sz="2400" dirty="0"/>
              <a:t>No-shows do not impact the other class’s served rate.</a:t>
            </a:r>
          </a:p>
        </p:txBody>
      </p:sp>
    </p:spTree>
    <p:extLst>
      <p:ext uri="{BB962C8B-B14F-4D97-AF65-F5344CB8AC3E}">
        <p14:creationId xmlns:p14="http://schemas.microsoft.com/office/powerpoint/2010/main" val="3520689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526D7-4325-4EAD-83C4-EFAEFFC15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335" y="0"/>
            <a:ext cx="11369843" cy="900538"/>
          </a:xfrm>
        </p:spPr>
        <p:txBody>
          <a:bodyPr>
            <a:normAutofit/>
          </a:bodyPr>
          <a:lstStyle/>
          <a:p>
            <a:r>
              <a:rPr lang="en-CA" sz="4000" dirty="0"/>
              <a:t>Balking impacts both classes’ served rate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8446729B-0594-486B-9E45-8E755FCA0CAA}"/>
              </a:ext>
            </a:extLst>
          </p:cNvPr>
          <p:cNvSpPr txBox="1">
            <a:spLocks/>
          </p:cNvSpPr>
          <p:nvPr/>
        </p:nvSpPr>
        <p:spPr>
          <a:xfrm>
            <a:off x="5997659" y="3993944"/>
            <a:ext cx="5209057" cy="256727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Class 1 balking </a:t>
            </a:r>
            <a:r>
              <a:rPr lang="en-CA" dirty="0">
                <a:solidFill>
                  <a:srgbClr val="C00000"/>
                </a:solidFill>
              </a:rPr>
              <a:t>positively impacts</a:t>
            </a:r>
            <a:r>
              <a:rPr lang="en-CA" dirty="0"/>
              <a:t> Class 2’s served rate.  </a:t>
            </a:r>
          </a:p>
          <a:p>
            <a:endParaRPr lang="en-CA" dirty="0"/>
          </a:p>
          <a:p>
            <a:r>
              <a:rPr lang="en-CA" dirty="0"/>
              <a:t>This impact peaks with pre-threshold balking at low to moderate demand.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CA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CA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FF403-5229-4AC7-8508-370FD4C427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635" y="3936793"/>
            <a:ext cx="4544401" cy="28640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6145B6E-EA69-4588-ADFF-7FFA886F5C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7660" y="900538"/>
            <a:ext cx="4417839" cy="27842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017509-B648-40AF-9201-85694E1A34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635" y="860657"/>
            <a:ext cx="4544401" cy="2864055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8A3DE8B4-4215-4132-915E-7B45A1617088}"/>
              </a:ext>
            </a:extLst>
          </p:cNvPr>
          <p:cNvSpPr/>
          <p:nvPr/>
        </p:nvSpPr>
        <p:spPr>
          <a:xfrm>
            <a:off x="1241832" y="944880"/>
            <a:ext cx="1447002" cy="1466465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31130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7E51E-BC9D-430C-BB22-43DF08B12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8847"/>
            <a:ext cx="10515600" cy="1088118"/>
          </a:xfrm>
        </p:spPr>
        <p:txBody>
          <a:bodyPr>
            <a:normAutofit/>
          </a:bodyPr>
          <a:lstStyle/>
          <a:p>
            <a:r>
              <a:rPr lang="en-CA" dirty="0"/>
              <a:t>Summary on no-show vs. balking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E1F5C417-0443-41F8-A6E7-018DE4E0628A}"/>
              </a:ext>
            </a:extLst>
          </p:cNvPr>
          <p:cNvSpPr txBox="1">
            <a:spLocks/>
          </p:cNvSpPr>
          <p:nvPr/>
        </p:nvSpPr>
        <p:spPr>
          <a:xfrm>
            <a:off x="550683" y="5056863"/>
            <a:ext cx="11544357" cy="1727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400" dirty="0"/>
              <a:t>No-show’s served rate impacts come from the change in each class’s post-probability.</a:t>
            </a:r>
          </a:p>
          <a:p>
            <a:pPr lvl="1"/>
            <a:r>
              <a:rPr lang="en-CA" dirty="0"/>
              <a:t>Minimally impacts the other class’s served rate.</a:t>
            </a:r>
          </a:p>
          <a:p>
            <a:r>
              <a:rPr lang="en-CA" sz="2400" dirty="0"/>
              <a:t>Served rates show consistent minimal changes from post probability balking changes.</a:t>
            </a:r>
          </a:p>
          <a:p>
            <a:pPr lvl="1"/>
            <a:r>
              <a:rPr lang="en-CA" dirty="0"/>
              <a:t>Balking served rate effects impact the other class.</a:t>
            </a:r>
          </a:p>
        </p:txBody>
      </p:sp>
    </p:spTree>
    <p:extLst>
      <p:ext uri="{BB962C8B-B14F-4D97-AF65-F5344CB8AC3E}">
        <p14:creationId xmlns:p14="http://schemas.microsoft.com/office/powerpoint/2010/main" val="14055858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1D3A9-0297-4B7C-9883-BD87C6C83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2346"/>
            <a:ext cx="10515600" cy="1325563"/>
          </a:xfrm>
        </p:spPr>
        <p:txBody>
          <a:bodyPr>
            <a:normAutofit/>
          </a:bodyPr>
          <a:lstStyle/>
          <a:p>
            <a:r>
              <a:rPr lang="en-CA" sz="4000" dirty="0"/>
              <a:t>Cancellation redistributes access and does not waste capacity</a:t>
            </a:r>
          </a:p>
        </p:txBody>
      </p:sp>
      <p:sp>
        <p:nvSpPr>
          <p:cNvPr id="5" name="Content Placeholder 11">
            <a:extLst>
              <a:ext uri="{FF2B5EF4-FFF2-40B4-BE49-F238E27FC236}">
                <a16:creationId xmlns:a16="http://schemas.microsoft.com/office/drawing/2014/main" id="{8300D28E-ABE5-4FED-B30F-C34DC7CD9D3A}"/>
              </a:ext>
            </a:extLst>
          </p:cNvPr>
          <p:cNvSpPr txBox="1">
            <a:spLocks/>
          </p:cNvSpPr>
          <p:nvPr/>
        </p:nvSpPr>
        <p:spPr>
          <a:xfrm>
            <a:off x="782871" y="5311292"/>
            <a:ext cx="10810033" cy="13255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400" dirty="0"/>
              <a:t>Under high demand, cancellations transfer access from one class to the other without significant pooled changes.</a:t>
            </a:r>
          </a:p>
          <a:p>
            <a:r>
              <a:rPr lang="en-CA" sz="2400" dirty="0"/>
              <a:t>Higher cancellation rate can improve utilization and waiting time by allowing appointments to be booked before behavior thresholds.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F751082-0A6E-4A93-89BF-226CD1AFA8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815" y="1611044"/>
            <a:ext cx="5741185" cy="361831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AB64E3-04CF-4B8C-98CD-B346944CF7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7887" y="1602246"/>
            <a:ext cx="5741186" cy="361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8383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1F8A5-D20D-418C-8C5D-1FD3CD639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29AA7-8F44-465A-9A20-C90F4AEFB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0333"/>
            <a:ext cx="10515600" cy="4583652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sz="2800" dirty="0"/>
              <a:t>Demand is a big driver of served rate compounded by no-show.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Balking post probability mainly redistributes access away from the delay-sensitive group.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sz="2800" dirty="0"/>
              <a:t>No-shows cause unrecoverable loss and wast</a:t>
            </a:r>
            <a:r>
              <a:rPr lang="en-CA" dirty="0"/>
              <a:t>e capacity</a:t>
            </a:r>
            <a:r>
              <a:rPr lang="en-CA" sz="2800" dirty="0"/>
              <a:t>.</a:t>
            </a:r>
            <a:endParaRPr lang="en-CA" dirty="0"/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Delay sensitivity matters along with behaviour post probability.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Balking increase impact both classes' served rate while no-show only impact its own class’s served rate.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No-show post probability matters more than threshold gap for served rate.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Balking post probability has minimal effects on served rate.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Cancellation redistributes access and service between classes.</a:t>
            </a:r>
          </a:p>
          <a:p>
            <a:pPr marL="514350" indent="-514350">
              <a:buAutoNum type="arabicPeriod"/>
            </a:pPr>
            <a:endParaRPr lang="en-CA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D9AF329-6B10-4FAC-99AC-950372B42C76}"/>
              </a:ext>
            </a:extLst>
          </p:cNvPr>
          <p:cNvCxnSpPr>
            <a:cxnSpLocks/>
          </p:cNvCxnSpPr>
          <p:nvPr/>
        </p:nvCxnSpPr>
        <p:spPr>
          <a:xfrm flipV="1">
            <a:off x="900663" y="1290484"/>
            <a:ext cx="10190124" cy="803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9503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E487-300A-4E44-8944-CDBA1EEEB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" y="326048"/>
            <a:ext cx="10744200" cy="1325563"/>
          </a:xfrm>
        </p:spPr>
        <p:txBody>
          <a:bodyPr/>
          <a:lstStyle/>
          <a:p>
            <a:r>
              <a:rPr lang="en-CA" dirty="0"/>
              <a:t>Next Step: can scheduling policy reduce harm?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67AFB-0276-4A59-89D0-765041CE1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Clr>
                <a:schemeClr val="accent5"/>
              </a:buClr>
            </a:pPr>
            <a:r>
              <a:rPr lang="en-CA" dirty="0"/>
              <a:t>Explore the impact of patient behavior on utilization, served rate, and waiting time when the booking horizon is flexible.</a:t>
            </a:r>
          </a:p>
          <a:p>
            <a:pPr>
              <a:buClr>
                <a:schemeClr val="accent5"/>
              </a:buClr>
            </a:pPr>
            <a:r>
              <a:rPr lang="en-CA" dirty="0"/>
              <a:t>Discover how to optimize metrics by choosing reservation slots and reservation period.</a:t>
            </a:r>
          </a:p>
          <a:p>
            <a:pPr>
              <a:buClr>
                <a:schemeClr val="accent5"/>
              </a:buClr>
            </a:pPr>
            <a:r>
              <a:rPr lang="en-CA" dirty="0"/>
              <a:t>What are the win-win situations of class access and efficiency when policies become flexible?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F2A1E28-F564-4CD5-9DE9-11EEA182BE20}"/>
              </a:ext>
            </a:extLst>
          </p:cNvPr>
          <p:cNvCxnSpPr>
            <a:cxnSpLocks/>
          </p:cNvCxnSpPr>
          <p:nvPr/>
        </p:nvCxnSpPr>
        <p:spPr>
          <a:xfrm flipV="1">
            <a:off x="838200" y="1290484"/>
            <a:ext cx="10392697" cy="803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721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3CD48-42A2-4E86-9C49-FED4D6F61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Policies in consideration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21A18-CA15-4AC4-90FE-BCA5BCB74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9250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CA" sz="3200" dirty="0"/>
              <a:t>Booking horizon   </a:t>
            </a:r>
          </a:p>
          <a:p>
            <a:pPr lvl="1"/>
            <a:r>
              <a:rPr lang="en-CA" sz="2800" dirty="0"/>
              <a:t>The horizon which bookings are restricted to</a:t>
            </a:r>
          </a:p>
          <a:p>
            <a:pPr marL="0" indent="0">
              <a:buNone/>
            </a:pPr>
            <a:endParaRPr lang="en-CA" sz="2000" dirty="0"/>
          </a:p>
          <a:p>
            <a:pPr marL="0" indent="0">
              <a:buNone/>
            </a:pPr>
            <a:r>
              <a:rPr lang="en-CA" sz="3200" dirty="0"/>
              <a:t>2. Reservation</a:t>
            </a:r>
          </a:p>
          <a:p>
            <a:pPr lvl="1"/>
            <a:r>
              <a:rPr lang="en-CA" sz="2800" dirty="0"/>
              <a:t>Allowing one class to have priority for certain appointments.</a:t>
            </a:r>
          </a:p>
          <a:p>
            <a:pPr lvl="1"/>
            <a:r>
              <a:rPr lang="en-CA" sz="2800" dirty="0"/>
              <a:t>This policy chooses both reserved slots per day and overall number of days that slots are reserved.</a:t>
            </a:r>
          </a:p>
          <a:p>
            <a:pPr marL="457200" lvl="1" indent="0">
              <a:buNone/>
            </a:pPr>
            <a:endParaRPr lang="en-CA" sz="2000" dirty="0"/>
          </a:p>
          <a:p>
            <a:pPr marL="0" indent="0">
              <a:buNone/>
            </a:pPr>
            <a:r>
              <a:rPr lang="en-CA" sz="3200" dirty="0"/>
              <a:t>3. Combination of reservation and booking horizon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784AF40-FCDC-49B4-8EEC-D83A493E2ADF}"/>
              </a:ext>
            </a:extLst>
          </p:cNvPr>
          <p:cNvCxnSpPr>
            <a:cxnSpLocks/>
          </p:cNvCxnSpPr>
          <p:nvPr/>
        </p:nvCxnSpPr>
        <p:spPr>
          <a:xfrm>
            <a:off x="698879" y="1399115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49251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5C4C4-80CF-4F67-9AFC-77396B476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106" y="365126"/>
            <a:ext cx="4680283" cy="1223768"/>
          </a:xfrm>
        </p:spPr>
        <p:txBody>
          <a:bodyPr/>
          <a:lstStyle/>
          <a:p>
            <a:r>
              <a:rPr lang="en-CA" dirty="0"/>
              <a:t>The 3x3 design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ABBBE3-3517-4CBC-9DA5-9971256BE6A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18" t="8381"/>
          <a:stretch/>
        </p:blipFill>
        <p:spPr>
          <a:xfrm>
            <a:off x="1889219" y="1722419"/>
            <a:ext cx="9588461" cy="4348442"/>
          </a:xfrm>
          <a:prstGeom prst="rect">
            <a:avLst/>
          </a:prstGeom>
        </p:spPr>
      </p:pic>
      <p:sp>
        <p:nvSpPr>
          <p:cNvPr id="6" name="Content Placeholder 11">
            <a:extLst>
              <a:ext uri="{FF2B5EF4-FFF2-40B4-BE49-F238E27FC236}">
                <a16:creationId xmlns:a16="http://schemas.microsoft.com/office/drawing/2014/main" id="{BCE7B2C6-53DB-4D73-9819-0B89121C5B18}"/>
              </a:ext>
            </a:extLst>
          </p:cNvPr>
          <p:cNvSpPr txBox="1">
            <a:spLocks/>
          </p:cNvSpPr>
          <p:nvPr/>
        </p:nvSpPr>
        <p:spPr>
          <a:xfrm>
            <a:off x="307984" y="3591240"/>
            <a:ext cx="1581235" cy="1487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2400" dirty="0">
                <a:solidFill>
                  <a:srgbClr val="8671B4"/>
                </a:solidFill>
              </a:rPr>
              <a:t>No-show post probability</a:t>
            </a:r>
          </a:p>
        </p:txBody>
      </p:sp>
      <p:sp>
        <p:nvSpPr>
          <p:cNvPr id="7" name="Content Placeholder 11">
            <a:extLst>
              <a:ext uri="{FF2B5EF4-FFF2-40B4-BE49-F238E27FC236}">
                <a16:creationId xmlns:a16="http://schemas.microsoft.com/office/drawing/2014/main" id="{9933F121-988A-48B2-BCB0-9EC27F13FBF6}"/>
              </a:ext>
            </a:extLst>
          </p:cNvPr>
          <p:cNvSpPr txBox="1">
            <a:spLocks/>
          </p:cNvSpPr>
          <p:nvPr/>
        </p:nvSpPr>
        <p:spPr>
          <a:xfrm>
            <a:off x="5692963" y="1162363"/>
            <a:ext cx="3272590" cy="493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2400" dirty="0">
                <a:solidFill>
                  <a:schemeClr val="accent2">
                    <a:lumMod val="75000"/>
                  </a:schemeClr>
                </a:solidFill>
              </a:rPr>
              <a:t>Balking post probability</a:t>
            </a:r>
          </a:p>
        </p:txBody>
      </p:sp>
    </p:spTree>
    <p:extLst>
      <p:ext uri="{BB962C8B-B14F-4D97-AF65-F5344CB8AC3E}">
        <p14:creationId xmlns:p14="http://schemas.microsoft.com/office/powerpoint/2010/main" val="28589688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9DA39-0AD6-4C52-825B-8541719E5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490" y="487077"/>
            <a:ext cx="11353800" cy="1325563"/>
          </a:xfrm>
        </p:spPr>
        <p:txBody>
          <a:bodyPr/>
          <a:lstStyle/>
          <a:p>
            <a:r>
              <a:rPr lang="en-CA" dirty="0"/>
              <a:t>No-show post probability determines the effectiveness of policies on utilization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BC00A1-DD6A-41E5-BC0B-C344BDF93BE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2" r="1310" b="1636"/>
          <a:stretch/>
        </p:blipFill>
        <p:spPr>
          <a:xfrm>
            <a:off x="697846" y="2085473"/>
            <a:ext cx="6823600" cy="4219461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948886-C3ED-4BDE-80DB-F4830BED6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3699" y="2361840"/>
            <a:ext cx="3344196" cy="35206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A" dirty="0"/>
              <a:t>Higher no-show post probability increases the effectiveness of utilization gain from implementing booking horizon policies, reservation policies, and a combination of both.</a:t>
            </a:r>
          </a:p>
        </p:txBody>
      </p:sp>
    </p:spTree>
    <p:extLst>
      <p:ext uri="{BB962C8B-B14F-4D97-AF65-F5344CB8AC3E}">
        <p14:creationId xmlns:p14="http://schemas.microsoft.com/office/powerpoint/2010/main" val="38733369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6DC7E-97AD-43A4-A8F4-9BE488FA1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012" y="188145"/>
            <a:ext cx="11771671" cy="1325563"/>
          </a:xfrm>
        </p:spPr>
        <p:txBody>
          <a:bodyPr/>
          <a:lstStyle/>
          <a:p>
            <a:r>
              <a:rPr lang="en-CA" dirty="0"/>
              <a:t>Demand activates the no-show effect on utilization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35FE9C-0B7F-4878-909D-4AE73DEAC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48484" y="1614946"/>
            <a:ext cx="3827207" cy="4800602"/>
          </a:xfrm>
        </p:spPr>
        <p:txBody>
          <a:bodyPr>
            <a:normAutofit lnSpcReduction="10000"/>
          </a:bodyPr>
          <a:lstStyle/>
          <a:p>
            <a:r>
              <a:rPr lang="en-CA" dirty="0"/>
              <a:t>Demand is a necessary component to policies’ utilization effectiveness from no-show post probability.</a:t>
            </a:r>
          </a:p>
          <a:p>
            <a:r>
              <a:rPr lang="en-CA" dirty="0"/>
              <a:t>Reservation is comparatively less effective because the horizon inflexibility pushes patients beyond the no-show delay at higher demand.</a:t>
            </a:r>
          </a:p>
          <a:p>
            <a:endParaRPr lang="en-CA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520F4A-BA0F-41BE-A1EC-DE854A2D22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02" y="1614946"/>
            <a:ext cx="7462151" cy="4541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0304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45B51-3913-420F-8417-28692C8ED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074" y="284009"/>
            <a:ext cx="10815747" cy="1087592"/>
          </a:xfrm>
        </p:spPr>
        <p:txBody>
          <a:bodyPr>
            <a:normAutofit fontScale="90000"/>
          </a:bodyPr>
          <a:lstStyle/>
          <a:p>
            <a:r>
              <a:rPr lang="en-CA" dirty="0"/>
              <a:t>When optimizing utilization, horizon is usually cut short to prevent no-shows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7540F8F-C6D0-49E5-B6EF-B98989DF51AE}"/>
              </a:ext>
            </a:extLst>
          </p:cNvPr>
          <p:cNvSpPr txBox="1">
            <a:spLocks/>
          </p:cNvSpPr>
          <p:nvPr/>
        </p:nvSpPr>
        <p:spPr>
          <a:xfrm>
            <a:off x="736717" y="5663490"/>
            <a:ext cx="10954540" cy="116749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Higher no-show post probability shortens optimized horizon.</a:t>
            </a:r>
          </a:p>
          <a:p>
            <a:r>
              <a:rPr lang="en-CA" dirty="0"/>
              <a:t>Mean horizon selected is higher when reservation is added to the policy.</a:t>
            </a:r>
          </a:p>
          <a:p>
            <a:r>
              <a:rPr lang="en-CA" dirty="0"/>
              <a:t>Horizon flexibility is more effective at regulating no-show risk than only reservation.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71EB843-BCEA-419D-B433-CAF11B37FE9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88" b="5524"/>
          <a:stretch/>
        </p:blipFill>
        <p:spPr>
          <a:xfrm>
            <a:off x="1608906" y="1442160"/>
            <a:ext cx="8908082" cy="426215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50A0E14-0E4E-4709-890D-B63961ED25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4667"/>
          <a:stretch/>
        </p:blipFill>
        <p:spPr>
          <a:xfrm>
            <a:off x="1295521" y="1362223"/>
            <a:ext cx="9600958" cy="291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3070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A7A4C-F609-4B97-B2A7-B9A2F7AEA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1613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We are looking for pareto improvements from reservations on </a:t>
            </a:r>
            <a:r>
              <a:rPr lang="en-CA" b="1" dirty="0"/>
              <a:t>served rate </a:t>
            </a:r>
            <a:r>
              <a:rPr lang="en-CA" dirty="0"/>
              <a:t>while maximizing utilization.</a:t>
            </a:r>
          </a:p>
          <a:p>
            <a:pPr marL="0" indent="0">
              <a:buNone/>
            </a:pPr>
            <a:endParaRPr lang="en-CA" sz="1400" dirty="0"/>
          </a:p>
          <a:p>
            <a:pPr marL="0" indent="0">
              <a:buNone/>
            </a:pPr>
            <a:r>
              <a:rPr lang="en-CA" dirty="0"/>
              <a:t>A representative example:</a:t>
            </a:r>
          </a:p>
          <a:p>
            <a:pPr marL="0" indent="0">
              <a:buNone/>
            </a:pPr>
            <a:r>
              <a:rPr lang="en-CA" dirty="0"/>
              <a:t>Let Class 1 be the reservation class and the most delay-sensitive class</a:t>
            </a:r>
          </a:p>
          <a:p>
            <a:endParaRPr lang="en-CA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59C645C-6F01-4A04-930B-BC1EF5172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en-CA" dirty="0"/>
              <a:t>When can reservations improve Class 1 access without hurting Class 2?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03CF395-32B6-43C8-863E-A389023B4F14}"/>
              </a:ext>
            </a:extLst>
          </p:cNvPr>
          <p:cNvCxnSpPr>
            <a:cxnSpLocks/>
          </p:cNvCxnSpPr>
          <p:nvPr/>
        </p:nvCxnSpPr>
        <p:spPr>
          <a:xfrm>
            <a:off x="905356" y="1624700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6C0D4AA-AD67-4B88-92BF-F2BBBB9B53A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34" b="40861"/>
          <a:stretch/>
        </p:blipFill>
        <p:spPr>
          <a:xfrm>
            <a:off x="354080" y="4138367"/>
            <a:ext cx="11649383" cy="229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5388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EFFAE-FAAC-489E-940F-4BACE00C4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en-CA" dirty="0"/>
              <a:t>When can reservations improve Class 1 access without hurting Class 2?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6B679-2893-47B0-B1C7-B701E0D57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4479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While utilization is maximized, when can we improve Class 1’s served rate while Class 2’s served rate does not meaningfully change?</a:t>
            </a:r>
          </a:p>
          <a:p>
            <a:pPr marL="0" indent="0">
              <a:buNone/>
            </a:pPr>
            <a:endParaRPr lang="en-CA" sz="1400" dirty="0"/>
          </a:p>
          <a:p>
            <a:r>
              <a:rPr lang="en-CA" dirty="0"/>
              <a:t>When Class 1 is a smaller portion of the queueing population</a:t>
            </a:r>
          </a:p>
          <a:p>
            <a:r>
              <a:rPr lang="en-CA" dirty="0"/>
              <a:t>When demand is lower</a:t>
            </a:r>
          </a:p>
          <a:p>
            <a:r>
              <a:rPr lang="en-CA" dirty="0"/>
              <a:t>When no-show post probability is low to moderate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When horizon is also flexible, Class 2 can be hurt more from the booking horizon becoming shorter.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04858D7-4852-4244-8D86-E1392E148372}"/>
              </a:ext>
            </a:extLst>
          </p:cNvPr>
          <p:cNvCxnSpPr>
            <a:cxnSpLocks/>
          </p:cNvCxnSpPr>
          <p:nvPr/>
        </p:nvCxnSpPr>
        <p:spPr>
          <a:xfrm>
            <a:off x="905356" y="1624700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3504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8281</TotalTime>
  <Words>1022</Words>
  <Application>Microsoft Office PowerPoint</Application>
  <PresentationFormat>Widescreen</PresentationFormat>
  <Paragraphs>134</Paragraphs>
  <Slides>22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Delay-Sensitive Behavior and Patient Access in First Come First Serve</vt:lpstr>
      <vt:lpstr>PowerPoint Presentation</vt:lpstr>
      <vt:lpstr>Patient delay-sensitive behaviors</vt:lpstr>
      <vt:lpstr>PowerPoint Presentation</vt:lpstr>
      <vt:lpstr>Threshold mechanisms: probabilities and delay </vt:lpstr>
      <vt:lpstr>Demand is a big driver of served rate compounded by no-show</vt:lpstr>
      <vt:lpstr>Under heavy demand, balking post probability shifts appointments to the more wait-tolerant group</vt:lpstr>
      <vt:lpstr>No-shows reduce average utilization and cause unrecoverable loss</vt:lpstr>
      <vt:lpstr>No-show vs. balking, how do they affect served rate?</vt:lpstr>
      <vt:lpstr>No-show heavily impacts the class’s own served rate</vt:lpstr>
      <vt:lpstr>Balking impacts both classes’ served rate</vt:lpstr>
      <vt:lpstr>Summary on no-show vs. balking</vt:lpstr>
      <vt:lpstr>Cancellation redistributes access and does not waste capacity</vt:lpstr>
      <vt:lpstr>Summary</vt:lpstr>
      <vt:lpstr>Next Step: can scheduling policy reduce harm?</vt:lpstr>
      <vt:lpstr>Policies in consideration</vt:lpstr>
      <vt:lpstr>The 3x3 design</vt:lpstr>
      <vt:lpstr>No-show post probability determines the effectiveness of policies on utilization</vt:lpstr>
      <vt:lpstr>Demand activates the no-show effect on utilization</vt:lpstr>
      <vt:lpstr>When optimizing utilization, horizon is usually cut short to prevent no-shows</vt:lpstr>
      <vt:lpstr>When can reservations improve Class 1 access without hurting Class 2?</vt:lpstr>
      <vt:lpstr>When can reservations improve Class 1 access without hurting Class 2?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Tracy Yang</dc:creator>
  <cp:lastModifiedBy>Tracy Yang</cp:lastModifiedBy>
  <cp:revision>159</cp:revision>
  <dcterms:created xsi:type="dcterms:W3CDTF">2026-08-11T19:15:44Z</dcterms:created>
  <dcterms:modified xsi:type="dcterms:W3CDTF">2026-09-23T22:26:38Z</dcterms:modified>
</cp:coreProperties>
</file>