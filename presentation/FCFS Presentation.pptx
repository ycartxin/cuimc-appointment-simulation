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1"/>
  </p:sldMasterIdLst>
  <p:notesMasterIdLst>
    <p:notesMasterId r:id="rId15"/>
  </p:notesMasterIdLst>
  <p:sldIdLst>
    <p:sldId id="256" r:id="rId2"/>
    <p:sldId id="265" r:id="rId3"/>
    <p:sldId id="269" r:id="rId4"/>
    <p:sldId id="257" r:id="rId5"/>
    <p:sldId id="270" r:id="rId6"/>
    <p:sldId id="271" r:id="rId7"/>
    <p:sldId id="268" r:id="rId8"/>
    <p:sldId id="260" r:id="rId9"/>
    <p:sldId id="261" r:id="rId10"/>
    <p:sldId id="263" r:id="rId11"/>
    <p:sldId id="266" r:id="rId12"/>
    <p:sldId id="267" r:id="rId13"/>
    <p:sldId id="27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856" autoAdjust="0"/>
  </p:normalViewPr>
  <p:slideViewPr>
    <p:cSldViewPr snapToGrid="0">
      <p:cViewPr varScale="1">
        <p:scale>
          <a:sx n="74" d="100"/>
          <a:sy n="74" d="100"/>
        </p:scale>
        <p:origin x="370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F00E0A-26B8-438F-8C49-C4126C0B2F07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CC533-38F2-4480-88E0-3DE04AB45AF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772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3333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6100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05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7270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Class 1 is the delay sensitive class, difference in served rate between class 1 and class 2 – on y axis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085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6335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2681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5299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99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9542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4985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1115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908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98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7081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8738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7739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560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9F276-CA16-4B7F-AC4C-2EDD18BC89A1}" type="datetimeFigureOut">
              <a:rPr lang="en-CA" smtClean="0"/>
              <a:t>2026-09-07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510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3D895-4164-4829-990F-701F05D72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5354" y="1813719"/>
            <a:ext cx="8424986" cy="2586344"/>
          </a:xfrm>
          <a:ln w="19050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r>
              <a:rPr lang="en-CA" sz="5400" dirty="0">
                <a:solidFill>
                  <a:schemeClr val="bg1"/>
                </a:solidFill>
              </a:rPr>
              <a:t>Delay-Sensitive Behavior and Patient Access in First Come First Serve</a:t>
            </a:r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58216D77-F8D2-4FFF-AE59-C966B9A38E6C}"/>
              </a:ext>
            </a:extLst>
          </p:cNvPr>
          <p:cNvSpPr/>
          <p:nvPr/>
        </p:nvSpPr>
        <p:spPr>
          <a:xfrm rot="16200000">
            <a:off x="11030339" y="5696339"/>
            <a:ext cx="1222310" cy="1101012"/>
          </a:xfrm>
          <a:prstGeom prst="rt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6641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94EED-0BE8-4240-9E72-6B2AA15A9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967" y="2262256"/>
            <a:ext cx="10515600" cy="1422400"/>
          </a:xfrm>
        </p:spPr>
        <p:txBody>
          <a:bodyPr>
            <a:normAutofit fontScale="92500"/>
          </a:bodyPr>
          <a:lstStyle/>
          <a:p>
            <a:r>
              <a:rPr lang="en-CA" dirty="0"/>
              <a:t>Long waits can change patient behavior, leading to no-show and balking.</a:t>
            </a:r>
          </a:p>
          <a:p>
            <a:r>
              <a:rPr lang="en-CA" dirty="0"/>
              <a:t>These behaviors lower overall served rate and waste utilization capacity.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C2B1E70-B1C0-4E07-B39D-21A7CC363E39}"/>
              </a:ext>
            </a:extLst>
          </p:cNvPr>
          <p:cNvSpPr txBox="1">
            <a:spLocks/>
          </p:cNvSpPr>
          <p:nvPr/>
        </p:nvSpPr>
        <p:spPr>
          <a:xfrm>
            <a:off x="668740" y="450499"/>
            <a:ext cx="10671412" cy="1586768"/>
          </a:xfrm>
          <a:prstGeom prst="rect">
            <a:avLst/>
          </a:prstGeom>
          <a:ln w="19050">
            <a:solidFill>
              <a:schemeClr val="accent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/>
              <a:t>Existing appointment scheduling approaches lead to long wait and idleness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A85636-B2D4-4CAF-B695-C0FA4DEBE07E}"/>
              </a:ext>
            </a:extLst>
          </p:cNvPr>
          <p:cNvSpPr txBox="1">
            <a:spLocks/>
          </p:cNvSpPr>
          <p:nvPr/>
        </p:nvSpPr>
        <p:spPr>
          <a:xfrm>
            <a:off x="532320" y="3438139"/>
            <a:ext cx="11222893" cy="898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Question: How does patient sensitivity to appointment delay affect patient access and efficiency?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7C5C35-1296-4D98-B436-296206CDD211}"/>
              </a:ext>
            </a:extLst>
          </p:cNvPr>
          <p:cNvSpPr txBox="1"/>
          <p:nvPr/>
        </p:nvSpPr>
        <p:spPr>
          <a:xfrm>
            <a:off x="1704264" y="4362708"/>
            <a:ext cx="8783472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dirty="0"/>
              <a:t>We focus on three metrics: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Average utilization:</a:t>
            </a:r>
            <a:r>
              <a:rPr lang="en-CA" sz="2400" dirty="0"/>
              <a:t> on average, the fraction of appointment capacity that becomes completed visits.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Served rate: </a:t>
            </a:r>
            <a:r>
              <a:rPr lang="en-CA" sz="2400" dirty="0"/>
              <a:t>the fraction of arriving patients that receive care.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Waiting time:</a:t>
            </a:r>
            <a:r>
              <a:rPr lang="en-CA" sz="2400" dirty="0"/>
              <a:t> the average delay of all appointments offered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D840E3-5C3C-4C2B-9D2C-0C36849BE12C}"/>
              </a:ext>
            </a:extLst>
          </p:cNvPr>
          <p:cNvCxnSpPr>
            <a:cxnSpLocks/>
          </p:cNvCxnSpPr>
          <p:nvPr/>
        </p:nvCxnSpPr>
        <p:spPr>
          <a:xfrm>
            <a:off x="607325" y="4230806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462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75A36-4458-4BA4-94FE-87FC979B0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690" y="555792"/>
            <a:ext cx="10515600" cy="1325563"/>
          </a:xfrm>
        </p:spPr>
        <p:txBody>
          <a:bodyPr/>
          <a:lstStyle/>
          <a:p>
            <a:r>
              <a:rPr lang="en-CA" dirty="0"/>
              <a:t>Patient delay-sensitive behaviors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9F570-54EE-4EB6-AF28-B82B400E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1879" y="2381535"/>
            <a:ext cx="4204648" cy="3167632"/>
          </a:xfrm>
          <a:ln w="28575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endParaRPr lang="en-CA" sz="3200" dirty="0"/>
          </a:p>
          <a:p>
            <a:pPr marL="0" indent="0" algn="ctr">
              <a:buNone/>
            </a:pPr>
            <a:r>
              <a:rPr lang="en-CA" sz="3200" dirty="0"/>
              <a:t>Balking</a:t>
            </a:r>
          </a:p>
          <a:p>
            <a:pPr marL="0" indent="0">
              <a:buNone/>
            </a:pPr>
            <a:endParaRPr lang="en-CA" sz="1600" dirty="0"/>
          </a:p>
          <a:p>
            <a:pPr marL="0" indent="0" algn="ctr">
              <a:buNone/>
            </a:pPr>
            <a:r>
              <a:rPr lang="en-CA" dirty="0"/>
              <a:t>The patient is offered an appointment, but decides to not take it because the wait is too long.</a:t>
            </a:r>
            <a:endParaRPr lang="en-CA" sz="3200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2962AA-5B4F-4467-8043-1E3C1F42FDA1}"/>
              </a:ext>
            </a:extLst>
          </p:cNvPr>
          <p:cNvSpPr txBox="1">
            <a:spLocks/>
          </p:cNvSpPr>
          <p:nvPr/>
        </p:nvSpPr>
        <p:spPr>
          <a:xfrm>
            <a:off x="6362131" y="2381535"/>
            <a:ext cx="4204648" cy="3167632"/>
          </a:xfrm>
          <a:prstGeom prst="rect">
            <a:avLst/>
          </a:prstGeom>
          <a:ln w="28575">
            <a:solidFill>
              <a:schemeClr val="accent5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CA" sz="32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sz="3200" dirty="0"/>
              <a:t>No-show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sz="16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dirty="0"/>
              <a:t>The patient is offered an appointment, but decides to not show-up because the wait is too long.</a:t>
            </a:r>
            <a:endParaRPr lang="en-CA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E56468-AE16-4715-8196-6A22D5D4D820}"/>
              </a:ext>
            </a:extLst>
          </p:cNvPr>
          <p:cNvCxnSpPr/>
          <p:nvPr/>
        </p:nvCxnSpPr>
        <p:spPr>
          <a:xfrm>
            <a:off x="878540" y="1562568"/>
            <a:ext cx="781448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142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94E28A-409C-4609-BC33-BA43ED9842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454" y="182462"/>
            <a:ext cx="9917092" cy="558133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89932-B7AC-427E-BEBC-D83D8C5098D4}"/>
              </a:ext>
            </a:extLst>
          </p:cNvPr>
          <p:cNvSpPr txBox="1">
            <a:spLocks/>
          </p:cNvSpPr>
          <p:nvPr/>
        </p:nvSpPr>
        <p:spPr>
          <a:xfrm>
            <a:off x="727587" y="5881127"/>
            <a:ext cx="10842523" cy="1028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dirty="0"/>
              <a:t>30 day burn-in          365-day measurement period          10-day cooldown 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124CE662-62E3-4BD8-B58D-CD6F43CCE2D4}"/>
              </a:ext>
            </a:extLst>
          </p:cNvPr>
          <p:cNvSpPr/>
          <p:nvPr/>
        </p:nvSpPr>
        <p:spPr>
          <a:xfrm>
            <a:off x="3089786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F5541E3-9F21-4C57-8E64-5F98605BC058}"/>
              </a:ext>
            </a:extLst>
          </p:cNvPr>
          <p:cNvSpPr/>
          <p:nvPr/>
        </p:nvSpPr>
        <p:spPr>
          <a:xfrm>
            <a:off x="8197644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4397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3D558-104E-46B9-A53B-CC248BF90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719" y="321438"/>
            <a:ext cx="11024364" cy="1325563"/>
          </a:xfrm>
        </p:spPr>
        <p:txBody>
          <a:bodyPr>
            <a:normAutofit/>
          </a:bodyPr>
          <a:lstStyle/>
          <a:p>
            <a:r>
              <a:rPr lang="en-CA" sz="4000" dirty="0"/>
              <a:t>Demand is a big driver of served rate compounded by no-show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106BE1-806D-4B56-8473-297C61BC03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25" y="1742639"/>
            <a:ext cx="5856083" cy="377392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C42C6A-656B-42A0-86A9-43C62713C4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42638"/>
            <a:ext cx="5856083" cy="3773921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142A21-9007-416F-96C9-0308DFA23117}"/>
              </a:ext>
            </a:extLst>
          </p:cNvPr>
          <p:cNvSpPr txBox="1">
            <a:spLocks/>
          </p:cNvSpPr>
          <p:nvPr/>
        </p:nvSpPr>
        <p:spPr>
          <a:xfrm>
            <a:off x="687802" y="5612196"/>
            <a:ext cx="11264281" cy="1136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Under high demand, arrival becomes the main driver for served rate.</a:t>
            </a:r>
          </a:p>
          <a:p>
            <a:r>
              <a:rPr lang="en-CA" dirty="0"/>
              <a:t>Balking rate has minimal effects while no-show further drives down served rate.</a:t>
            </a:r>
          </a:p>
        </p:txBody>
      </p:sp>
    </p:spTree>
    <p:extLst>
      <p:ext uri="{BB962C8B-B14F-4D97-AF65-F5344CB8AC3E}">
        <p14:creationId xmlns:p14="http://schemas.microsoft.com/office/powerpoint/2010/main" val="3359586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33CC-5640-40DD-82F7-8C55D31A5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Threshold mechanisms: magnitude and delay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00A5A-4B37-44F0-B338-F679E868F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For both no-show and balking behavior of both classes</a:t>
            </a:r>
          </a:p>
          <a:p>
            <a:r>
              <a:rPr lang="en-CA" dirty="0"/>
              <a:t>Magnitude and delay for probability and threshold</a:t>
            </a:r>
          </a:p>
        </p:txBody>
      </p:sp>
    </p:spTree>
    <p:extLst>
      <p:ext uri="{BB962C8B-B14F-4D97-AF65-F5344CB8AC3E}">
        <p14:creationId xmlns:p14="http://schemas.microsoft.com/office/powerpoint/2010/main" val="2806244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96ABB-6D63-436C-B8C2-BB1B556FC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883" y="134673"/>
            <a:ext cx="10832711" cy="1479306"/>
          </a:xfrm>
        </p:spPr>
        <p:txBody>
          <a:bodyPr>
            <a:normAutofit/>
          </a:bodyPr>
          <a:lstStyle/>
          <a:p>
            <a:r>
              <a:rPr lang="en-CA" sz="4000" dirty="0"/>
              <a:t>Under heavy demand, balking magnitude shifts appointments to the more wait-tolerant group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12D7A2-18E8-4A84-A31C-045F3288589C}"/>
              </a:ext>
            </a:extLst>
          </p:cNvPr>
          <p:cNvSpPr txBox="1">
            <a:spLocks/>
          </p:cNvSpPr>
          <p:nvPr/>
        </p:nvSpPr>
        <p:spPr>
          <a:xfrm>
            <a:off x="975444" y="5578166"/>
            <a:ext cx="10832711" cy="92221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Overall utilization and served rate is not impacted by balking magnitude.</a:t>
            </a:r>
          </a:p>
          <a:p>
            <a:r>
              <a:rPr lang="en-CA" dirty="0"/>
              <a:t>The wait-tolerant group takes over balked slots.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EDCDF1F-1F72-4580-9C83-11BF5DD5B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309" y="1742073"/>
            <a:ext cx="6142491" cy="354194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9762D0-E7D8-4F88-AA38-383BD04691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396"/>
          <a:stretch/>
        </p:blipFill>
        <p:spPr>
          <a:xfrm>
            <a:off x="6455952" y="1742073"/>
            <a:ext cx="5442493" cy="354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808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FC9F-4A35-4BE1-A567-4D59D0BCA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5144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No-shows reduce average utilization and cause unrecoverable loss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7E130-5C03-41C6-B156-F4E306367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28" y="5572368"/>
            <a:ext cx="11728256" cy="108251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CA" sz="2400" dirty="0"/>
              <a:t>In addition to the </a:t>
            </a:r>
            <a:r>
              <a:rPr lang="en-CA" sz="2400" b="1" dirty="0"/>
              <a:t>magnitude</a:t>
            </a:r>
            <a:r>
              <a:rPr lang="en-CA" sz="2400" dirty="0"/>
              <a:t> of no-show and balking, the</a:t>
            </a:r>
            <a:r>
              <a:rPr lang="en-CA" sz="2400" b="1" dirty="0"/>
              <a:t> delay </a:t>
            </a:r>
            <a:r>
              <a:rPr lang="en-CA" sz="2400" dirty="0"/>
              <a:t>also matters.</a:t>
            </a:r>
          </a:p>
          <a:p>
            <a:r>
              <a:rPr lang="en-CA" sz="2400" dirty="0"/>
              <a:t>For example, no-show threshold changes let more/less bookings fall before the no-show threshold.</a:t>
            </a:r>
          </a:p>
          <a:p>
            <a:pPr marL="0" indent="0">
              <a:buNone/>
            </a:pPr>
            <a:endParaRPr lang="en-CA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A9535-274A-454B-9DAA-7E08D3CD105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612"/>
          <a:stretch/>
        </p:blipFill>
        <p:spPr>
          <a:xfrm>
            <a:off x="485496" y="2094534"/>
            <a:ext cx="5380594" cy="32234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29A7A0-8C4A-4DBC-97BB-2AF62F9E42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997"/>
          <a:stretch/>
        </p:blipFill>
        <p:spPr>
          <a:xfrm>
            <a:off x="6096000" y="2058056"/>
            <a:ext cx="5380594" cy="328992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1956235-D240-493B-B123-002E69B01EB2}"/>
              </a:ext>
            </a:extLst>
          </p:cNvPr>
          <p:cNvSpPr txBox="1">
            <a:spLocks/>
          </p:cNvSpPr>
          <p:nvPr/>
        </p:nvSpPr>
        <p:spPr>
          <a:xfrm>
            <a:off x="7814813" y="1660707"/>
            <a:ext cx="2618342" cy="662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1800" dirty="0"/>
              <a:t>Delay – threshold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B61C4F8-76CE-4AAA-9256-D4F8DD4F59FA}"/>
              </a:ext>
            </a:extLst>
          </p:cNvPr>
          <p:cNvSpPr txBox="1">
            <a:spLocks/>
          </p:cNvSpPr>
          <p:nvPr/>
        </p:nvSpPr>
        <p:spPr>
          <a:xfrm>
            <a:off x="1284158" y="1726685"/>
            <a:ext cx="3891197" cy="662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1800" dirty="0"/>
              <a:t>Magnitude – post threshold probability</a:t>
            </a:r>
          </a:p>
        </p:txBody>
      </p:sp>
    </p:spTree>
    <p:extLst>
      <p:ext uri="{BB962C8B-B14F-4D97-AF65-F5344CB8AC3E}">
        <p14:creationId xmlns:p14="http://schemas.microsoft.com/office/powerpoint/2010/main" val="3281064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526D7-4325-4EAD-83C4-EFAEFFC1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078" y="282844"/>
            <a:ext cx="11369843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No-show is the stronger driver of class access, but balking becomes more important as demand increases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86772-9FF2-423A-B395-50D12B3A7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50705" y="2079523"/>
            <a:ext cx="3130216" cy="396731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dirty="0"/>
              <a:t>The served rate gap difference from making Class 1 more delay-sensitive shows opposing trends over demand.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The increase in no-show magnitude of class 1 lowers served rate gap more than an identical increase in balking.</a:t>
            </a:r>
            <a:endParaRPr lang="en-CA" sz="2600" dirty="0"/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73CE6E8-CBA3-482B-93E3-F2E9069B1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39" y="1727128"/>
            <a:ext cx="7839957" cy="461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13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D3A9-0297-4B7C-9883-BD87C6C83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346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Cancellation redistributes access and does not waste capacity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A6C18586-3ECC-41E4-925E-079E42542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894"/>
          <a:stretch/>
        </p:blipFill>
        <p:spPr>
          <a:xfrm>
            <a:off x="439400" y="1600200"/>
            <a:ext cx="5562009" cy="3532504"/>
          </a:xfrm>
        </p:spPr>
      </p:pic>
      <p:sp>
        <p:nvSpPr>
          <p:cNvPr id="5" name="Content Placeholder 11">
            <a:extLst>
              <a:ext uri="{FF2B5EF4-FFF2-40B4-BE49-F238E27FC236}">
                <a16:creationId xmlns:a16="http://schemas.microsoft.com/office/drawing/2014/main" id="{8300D28E-ABE5-4FED-B30F-C34DC7CD9D3A}"/>
              </a:ext>
            </a:extLst>
          </p:cNvPr>
          <p:cNvSpPr txBox="1">
            <a:spLocks/>
          </p:cNvSpPr>
          <p:nvPr/>
        </p:nvSpPr>
        <p:spPr>
          <a:xfrm>
            <a:off x="782871" y="5311292"/>
            <a:ext cx="10810033" cy="13255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dirty="0"/>
              <a:t>Under high demand, cancellations transfer access from one class to the other without significant pooled changes.</a:t>
            </a:r>
          </a:p>
          <a:p>
            <a:r>
              <a:rPr lang="en-CA" sz="2400" dirty="0"/>
              <a:t>Higher cancellation rate can improve utilization and waiting time by allowing appointments to be booked before behavior thresholds.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0932703-1B5B-4BE8-BB30-66B247423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3180" y="1600200"/>
            <a:ext cx="5567408" cy="353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838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F8A5-D20D-418C-8C5D-1FD3CD639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29AA7-8F44-465A-9A20-C90F4AEFB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Demand is a big driver of served rate compounded by no-show.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magnitude mainly redistributes access away from the delay-sensitive group.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No-shows cause unrecoverable loss and wast</a:t>
            </a:r>
            <a:r>
              <a:rPr lang="en-CA" dirty="0"/>
              <a:t>e capacity</a:t>
            </a:r>
            <a:r>
              <a:rPr lang="en-CA" sz="2800" dirty="0"/>
              <a:t>.</a:t>
            </a:r>
            <a:endParaRPr lang="en-CA" dirty="0"/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Delay sensitivity matters along with behaviour magnitude.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No-show magnitude is the stronger driver of class access </a:t>
            </a:r>
            <a:r>
              <a:rPr lang="en-US" altLang="zh-CN" dirty="0"/>
              <a:t>while</a:t>
            </a:r>
            <a:r>
              <a:rPr lang="en-CA" dirty="0"/>
              <a:t> balking becomes more important as demand increases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Cancellation redistributes access and service between classes.</a:t>
            </a:r>
          </a:p>
          <a:p>
            <a:pPr marL="514350" indent="-514350">
              <a:buAutoNum type="arabicPeriod"/>
            </a:pPr>
            <a:endParaRPr lang="en-CA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9AF329-6B10-4FAC-99AC-950372B42C76}"/>
              </a:ext>
            </a:extLst>
          </p:cNvPr>
          <p:cNvCxnSpPr>
            <a:cxnSpLocks/>
          </p:cNvCxnSpPr>
          <p:nvPr/>
        </p:nvCxnSpPr>
        <p:spPr>
          <a:xfrm flipV="1">
            <a:off x="900663" y="1290484"/>
            <a:ext cx="10190124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503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E487-300A-4E44-8944-CDBA1EEE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26048"/>
            <a:ext cx="10744200" cy="1325563"/>
          </a:xfrm>
        </p:spPr>
        <p:txBody>
          <a:bodyPr/>
          <a:lstStyle/>
          <a:p>
            <a:r>
              <a:rPr lang="en-CA" dirty="0"/>
              <a:t>Next Step: can scheduling policy reduce harm?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67AFB-0276-4A59-89D0-765041CE1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accent5"/>
              </a:buClr>
            </a:pPr>
            <a:r>
              <a:rPr lang="en-CA" dirty="0"/>
              <a:t>Explore the impact of patient behavior on utilization, served rate, and waiting time when the booking horizon is flexible.</a:t>
            </a:r>
          </a:p>
          <a:p>
            <a:pPr>
              <a:buClr>
                <a:schemeClr val="accent5"/>
              </a:buClr>
            </a:pPr>
            <a:r>
              <a:rPr lang="en-CA" dirty="0"/>
              <a:t>Discover how to optimize metrics by choosing reservation slots and reservation period.</a:t>
            </a:r>
          </a:p>
          <a:p>
            <a:pPr>
              <a:buClr>
                <a:schemeClr val="accent5"/>
              </a:buClr>
            </a:pPr>
            <a:r>
              <a:rPr lang="en-CA" dirty="0"/>
              <a:t>What are the win-win situations of class access and efficiency when policies become flexible?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2A1E28-F564-4CD5-9DE9-11EEA182BE20}"/>
              </a:ext>
            </a:extLst>
          </p:cNvPr>
          <p:cNvCxnSpPr>
            <a:cxnSpLocks/>
          </p:cNvCxnSpPr>
          <p:nvPr/>
        </p:nvCxnSpPr>
        <p:spPr>
          <a:xfrm flipV="1">
            <a:off x="838200" y="1290484"/>
            <a:ext cx="10392697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721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3CD48-42A2-4E86-9C49-FED4D6F61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Policies in consideration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21A18-CA15-4AC4-90FE-BCA5BCB74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CA" dirty="0"/>
              <a:t>Reservation</a:t>
            </a:r>
          </a:p>
          <a:p>
            <a:pPr lvl="1"/>
            <a:r>
              <a:rPr lang="en-CA" dirty="0"/>
              <a:t>Allowing one class to have priority for certain appointments.</a:t>
            </a:r>
          </a:p>
          <a:p>
            <a:pPr lvl="1"/>
            <a:r>
              <a:rPr lang="en-CA" dirty="0"/>
              <a:t>This policy chooses both reserved slots per day and reservation horizon.</a:t>
            </a:r>
          </a:p>
          <a:p>
            <a:pPr marL="514350" indent="-514350">
              <a:buAutoNum type="arabicPeriod"/>
            </a:pPr>
            <a:endParaRPr lang="en-CA" dirty="0"/>
          </a:p>
          <a:p>
            <a:pPr marL="0" indent="0">
              <a:buNone/>
            </a:pPr>
            <a:r>
              <a:rPr lang="en-CA" dirty="0"/>
              <a:t>2. Booking horizon</a:t>
            </a:r>
          </a:p>
          <a:p>
            <a:pPr lvl="1"/>
            <a:r>
              <a:rPr lang="en-CA" dirty="0"/>
              <a:t>Adjusting how early an appointment booking is allowed.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784AF40-FCDC-49B4-8EEC-D83A493E2ADF}"/>
              </a:ext>
            </a:extLst>
          </p:cNvPr>
          <p:cNvCxnSpPr>
            <a:cxnSpLocks/>
          </p:cNvCxnSpPr>
          <p:nvPr/>
        </p:nvCxnSpPr>
        <p:spPr>
          <a:xfrm>
            <a:off x="698879" y="1399115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4925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5141</TotalTime>
  <Words>586</Words>
  <Application>Microsoft Office PowerPoint</Application>
  <PresentationFormat>Widescreen</PresentationFormat>
  <Paragraphs>66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Delay-Sensitive Behavior and Patient Access in First Come First Serve</vt:lpstr>
      <vt:lpstr>PowerPoint Presentation</vt:lpstr>
      <vt:lpstr>Patient delay-sensitive behaviors</vt:lpstr>
      <vt:lpstr>PowerPoint Presentation</vt:lpstr>
      <vt:lpstr>Demand is a big driver of served rate compounded by no-show</vt:lpstr>
      <vt:lpstr>Threshold mechanisms: magnitude and delay </vt:lpstr>
      <vt:lpstr>Under heavy demand, balking magnitude shifts appointments to the more wait-tolerant group</vt:lpstr>
      <vt:lpstr>No-shows reduce average utilization and cause unrecoverable loss</vt:lpstr>
      <vt:lpstr>No-show is the stronger driver of class access, but balking becomes more important as demand increases</vt:lpstr>
      <vt:lpstr>Cancellation redistributes access and does not waste capacity</vt:lpstr>
      <vt:lpstr>Summary</vt:lpstr>
      <vt:lpstr>Next Step: can scheduling policy reduce harm?</vt:lpstr>
      <vt:lpstr>Policies in consideration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Tracy Yang</dc:creator>
  <cp:lastModifiedBy>Tracy Yang</cp:lastModifiedBy>
  <cp:revision>94</cp:revision>
  <dcterms:created xsi:type="dcterms:W3CDTF">2026-08-11T19:15:44Z</dcterms:created>
  <dcterms:modified xsi:type="dcterms:W3CDTF">2026-09-08T05:07:20Z</dcterms:modified>
</cp:coreProperties>
</file>