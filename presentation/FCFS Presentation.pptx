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6" r:id="rId1"/>
  </p:sldMasterIdLst>
  <p:notesMasterIdLst>
    <p:notesMasterId r:id="rId15"/>
  </p:notesMasterIdLst>
  <p:sldIdLst>
    <p:sldId id="256" r:id="rId2"/>
    <p:sldId id="265" r:id="rId3"/>
    <p:sldId id="269" r:id="rId4"/>
    <p:sldId id="257" r:id="rId5"/>
    <p:sldId id="270" r:id="rId6"/>
    <p:sldId id="271" r:id="rId7"/>
    <p:sldId id="268" r:id="rId8"/>
    <p:sldId id="260" r:id="rId9"/>
    <p:sldId id="261" r:id="rId10"/>
    <p:sldId id="263" r:id="rId11"/>
    <p:sldId id="266" r:id="rId12"/>
    <p:sldId id="267" r:id="rId13"/>
    <p:sldId id="272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7856" autoAdjust="0"/>
  </p:normalViewPr>
  <p:slideViewPr>
    <p:cSldViewPr snapToGrid="0">
      <p:cViewPr varScale="1">
        <p:scale>
          <a:sx n="74" d="100"/>
          <a:sy n="74" d="100"/>
        </p:scale>
        <p:origin x="370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F00E0A-26B8-438F-8C49-C4126C0B2F07}" type="datetimeFigureOut">
              <a:rPr lang="en-CA" smtClean="0"/>
              <a:t>2026-09-05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0CC533-38F2-4480-88E0-3DE04AB45AF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467723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533339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961009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20059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772708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Class 1 is the delay sensitive class, difference in served rate between class 1 and class 2 – on y axis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040850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10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863352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11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026810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2026-09-05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52990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2026-09-05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54994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2026-09-05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395422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2026-09-05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049858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2026-09-05</a:t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01115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2026-09-05</a:t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490870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2026-09-05</a:t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6982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2026-09-05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470817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2026-09-05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687382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2026-09-05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077393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2026-09-05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985606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59F276-CA16-4B7F-AC4C-2EDD18BC89A1}" type="datetimeFigureOut">
              <a:rPr lang="en-CA" smtClean="0"/>
              <a:t>2026-09-05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575101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7" r:id="rId1"/>
    <p:sldLayoutId id="2147483828" r:id="rId2"/>
    <p:sldLayoutId id="2147483829" r:id="rId3"/>
    <p:sldLayoutId id="2147483830" r:id="rId4"/>
    <p:sldLayoutId id="2147483831" r:id="rId5"/>
    <p:sldLayoutId id="2147483832" r:id="rId6"/>
    <p:sldLayoutId id="2147483833" r:id="rId7"/>
    <p:sldLayoutId id="2147483834" r:id="rId8"/>
    <p:sldLayoutId id="2147483835" r:id="rId9"/>
    <p:sldLayoutId id="2147483836" r:id="rId10"/>
    <p:sldLayoutId id="214748383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53D895-4164-4829-990F-701F05D727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05354" y="1813719"/>
            <a:ext cx="8424986" cy="2586344"/>
          </a:xfrm>
          <a:ln w="19050">
            <a:solidFill>
              <a:schemeClr val="accent5"/>
            </a:solidFill>
          </a:ln>
        </p:spPr>
        <p:txBody>
          <a:bodyPr anchor="ctr">
            <a:normAutofit/>
          </a:bodyPr>
          <a:lstStyle/>
          <a:p>
            <a:r>
              <a:rPr lang="en-CA" sz="5400" dirty="0">
                <a:solidFill>
                  <a:schemeClr val="bg1"/>
                </a:solidFill>
              </a:rPr>
              <a:t>Delay-Sensitive Behavior and Patient Access in First Come First Serve</a:t>
            </a:r>
          </a:p>
        </p:txBody>
      </p:sp>
      <p:sp>
        <p:nvSpPr>
          <p:cNvPr id="4" name="Right Triangle 3">
            <a:extLst>
              <a:ext uri="{FF2B5EF4-FFF2-40B4-BE49-F238E27FC236}">
                <a16:creationId xmlns:a16="http://schemas.microsoft.com/office/drawing/2014/main" id="{58216D77-F8D2-4FFF-AE59-C966B9A38E6C}"/>
              </a:ext>
            </a:extLst>
          </p:cNvPr>
          <p:cNvSpPr/>
          <p:nvPr/>
        </p:nvSpPr>
        <p:spPr>
          <a:xfrm rot="16200000">
            <a:off x="11030339" y="5696339"/>
            <a:ext cx="1222310" cy="1101012"/>
          </a:xfrm>
          <a:prstGeom prst="rt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366419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A94EED-0BE8-4240-9E72-6B2AA15A9A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5967" y="2262256"/>
            <a:ext cx="10515600" cy="1422400"/>
          </a:xfrm>
        </p:spPr>
        <p:txBody>
          <a:bodyPr>
            <a:normAutofit fontScale="92500"/>
          </a:bodyPr>
          <a:lstStyle/>
          <a:p>
            <a:r>
              <a:rPr lang="en-CA" dirty="0"/>
              <a:t>Long waits can change patient behavior, leading to no-show and balking.</a:t>
            </a:r>
          </a:p>
          <a:p>
            <a:r>
              <a:rPr lang="en-CA" dirty="0"/>
              <a:t>These behaviors lower overall served rate and waste utilization capacity.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C2B1E70-B1C0-4E07-B39D-21A7CC363E39}"/>
              </a:ext>
            </a:extLst>
          </p:cNvPr>
          <p:cNvSpPr txBox="1">
            <a:spLocks/>
          </p:cNvSpPr>
          <p:nvPr/>
        </p:nvSpPr>
        <p:spPr>
          <a:xfrm>
            <a:off x="668740" y="450499"/>
            <a:ext cx="10671412" cy="1586768"/>
          </a:xfrm>
          <a:prstGeom prst="rect">
            <a:avLst/>
          </a:prstGeom>
          <a:ln w="19050">
            <a:solidFill>
              <a:schemeClr val="accent5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dirty="0"/>
              <a:t>Existing appointment scheduling approaches lead to long wait and idleness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5A85636-B2D4-4CAF-B695-C0FA4DEBE07E}"/>
              </a:ext>
            </a:extLst>
          </p:cNvPr>
          <p:cNvSpPr txBox="1">
            <a:spLocks/>
          </p:cNvSpPr>
          <p:nvPr/>
        </p:nvSpPr>
        <p:spPr>
          <a:xfrm>
            <a:off x="532320" y="3438139"/>
            <a:ext cx="11222893" cy="8987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CA" dirty="0"/>
              <a:t>Question: How does patient sensitivity to appointment delay affect patient access and efficiency?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7C5C35-1296-4D98-B436-296206CDD211}"/>
              </a:ext>
            </a:extLst>
          </p:cNvPr>
          <p:cNvSpPr txBox="1"/>
          <p:nvPr/>
        </p:nvSpPr>
        <p:spPr>
          <a:xfrm>
            <a:off x="1704264" y="4362708"/>
            <a:ext cx="8783472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2800" dirty="0"/>
              <a:t>We focus on three metrics: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CA" sz="2400" b="1" dirty="0"/>
              <a:t>Average utilization:</a:t>
            </a:r>
            <a:r>
              <a:rPr lang="en-CA" sz="2400" dirty="0"/>
              <a:t> on average, the fraction of appointment capacity that becomes completed visits.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CA" sz="2400" b="1" dirty="0"/>
              <a:t>Served rate: </a:t>
            </a:r>
            <a:r>
              <a:rPr lang="en-CA" sz="2400" dirty="0"/>
              <a:t>the fraction of arriving patients that receive care.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CA" sz="2400" b="1" dirty="0"/>
              <a:t>Waiting time:</a:t>
            </a:r>
            <a:r>
              <a:rPr lang="en-CA" sz="2400" dirty="0"/>
              <a:t> the average delay of all appointments offered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9D840E3-5C3C-4C2B-9D2C-0C36849BE12C}"/>
              </a:ext>
            </a:extLst>
          </p:cNvPr>
          <p:cNvCxnSpPr>
            <a:cxnSpLocks/>
          </p:cNvCxnSpPr>
          <p:nvPr/>
        </p:nvCxnSpPr>
        <p:spPr>
          <a:xfrm>
            <a:off x="607325" y="4230806"/>
            <a:ext cx="10794242" cy="0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64620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A75A36-4458-4BA4-94FE-87FC979B0F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690" y="555792"/>
            <a:ext cx="10515600" cy="1325563"/>
          </a:xfrm>
        </p:spPr>
        <p:txBody>
          <a:bodyPr/>
          <a:lstStyle/>
          <a:p>
            <a:r>
              <a:rPr lang="en-CA" dirty="0"/>
              <a:t>Patient delay-sensitive behaviors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D9F570-54EE-4EB6-AF28-B82B400E42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1879" y="2381535"/>
            <a:ext cx="4204648" cy="3167632"/>
          </a:xfrm>
          <a:ln w="28575">
            <a:solidFill>
              <a:schemeClr val="accent5"/>
            </a:solidFill>
          </a:ln>
        </p:spPr>
        <p:txBody>
          <a:bodyPr anchor="ctr">
            <a:normAutofit/>
          </a:bodyPr>
          <a:lstStyle/>
          <a:p>
            <a:pPr marL="0" indent="0" algn="ctr">
              <a:buNone/>
            </a:pPr>
            <a:endParaRPr lang="en-CA" sz="3200" dirty="0"/>
          </a:p>
          <a:p>
            <a:pPr marL="0" indent="0" algn="ctr">
              <a:buNone/>
            </a:pPr>
            <a:r>
              <a:rPr lang="en-CA" sz="3200" dirty="0"/>
              <a:t>Balking</a:t>
            </a:r>
          </a:p>
          <a:p>
            <a:pPr marL="0" indent="0">
              <a:buNone/>
            </a:pPr>
            <a:endParaRPr lang="en-CA" sz="1600" dirty="0"/>
          </a:p>
          <a:p>
            <a:pPr marL="0" indent="0" algn="ctr">
              <a:buNone/>
            </a:pPr>
            <a:r>
              <a:rPr lang="en-CA" dirty="0"/>
              <a:t>The patient is offered an appointment, but decides to not take it because the wait is too long.</a:t>
            </a:r>
            <a:endParaRPr lang="en-CA" sz="3200" dirty="0"/>
          </a:p>
          <a:p>
            <a:pPr marL="0" indent="0">
              <a:buNone/>
            </a:pPr>
            <a:endParaRPr lang="en-CA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62962AA-5B4F-4467-8043-1E3C1F42FDA1}"/>
              </a:ext>
            </a:extLst>
          </p:cNvPr>
          <p:cNvSpPr txBox="1">
            <a:spLocks/>
          </p:cNvSpPr>
          <p:nvPr/>
        </p:nvSpPr>
        <p:spPr>
          <a:xfrm>
            <a:off x="6362131" y="2381535"/>
            <a:ext cx="4204648" cy="3167632"/>
          </a:xfrm>
          <a:prstGeom prst="rect">
            <a:avLst/>
          </a:prstGeom>
          <a:ln w="28575">
            <a:solidFill>
              <a:schemeClr val="accent5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endParaRPr lang="en-CA" sz="3200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CA" sz="3200" dirty="0"/>
              <a:t>No-show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CA" sz="1600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CA" dirty="0"/>
              <a:t>The patient is offered an appointment, but decides to not show-up because the wait is too long.</a:t>
            </a:r>
            <a:endParaRPr lang="en-CA" sz="3200" dirty="0"/>
          </a:p>
          <a:p>
            <a:pPr marL="0" indent="0">
              <a:buFont typeface="Arial" panose="020B0604020202020204" pitchFamily="34" charset="0"/>
              <a:buNone/>
            </a:pPr>
            <a:endParaRPr lang="en-CA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2E56468-AE16-4715-8196-6A22D5D4D820}"/>
              </a:ext>
            </a:extLst>
          </p:cNvPr>
          <p:cNvCxnSpPr/>
          <p:nvPr/>
        </p:nvCxnSpPr>
        <p:spPr>
          <a:xfrm>
            <a:off x="878540" y="1562568"/>
            <a:ext cx="781448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11421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D94E28A-409C-4609-BC33-BA43ED9842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454" y="182462"/>
            <a:ext cx="9917092" cy="5581330"/>
          </a:xfr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F89932-B7AC-427E-BEBC-D83D8C5098D4}"/>
              </a:ext>
            </a:extLst>
          </p:cNvPr>
          <p:cNvSpPr txBox="1">
            <a:spLocks/>
          </p:cNvSpPr>
          <p:nvPr/>
        </p:nvSpPr>
        <p:spPr>
          <a:xfrm>
            <a:off x="727587" y="5881127"/>
            <a:ext cx="10842523" cy="10284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CA" dirty="0"/>
              <a:t>30 day burn-in          365-day measurement period          10-day cooldown </a:t>
            </a:r>
          </a:p>
        </p:txBody>
      </p:sp>
      <p:sp>
        <p:nvSpPr>
          <p:cNvPr id="2" name="Arrow: Right 1">
            <a:extLst>
              <a:ext uri="{FF2B5EF4-FFF2-40B4-BE49-F238E27FC236}">
                <a16:creationId xmlns:a16="http://schemas.microsoft.com/office/drawing/2014/main" id="{124CE662-62E3-4BD8-B58D-CD6F43CCE2D4}"/>
              </a:ext>
            </a:extLst>
          </p:cNvPr>
          <p:cNvSpPr/>
          <p:nvPr/>
        </p:nvSpPr>
        <p:spPr>
          <a:xfrm>
            <a:off x="3089786" y="6043151"/>
            <a:ext cx="486697" cy="140110"/>
          </a:xfrm>
          <a:prstGeom prst="rightArrow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7F5541E3-9F21-4C57-8E64-5F98605BC058}"/>
              </a:ext>
            </a:extLst>
          </p:cNvPr>
          <p:cNvSpPr/>
          <p:nvPr/>
        </p:nvSpPr>
        <p:spPr>
          <a:xfrm>
            <a:off x="8197644" y="6043151"/>
            <a:ext cx="486697" cy="140110"/>
          </a:xfrm>
          <a:prstGeom prst="rightArrow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043975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23D558-104E-46B9-A53B-CC248BF90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7719" y="321438"/>
            <a:ext cx="11024364" cy="1325563"/>
          </a:xfrm>
        </p:spPr>
        <p:txBody>
          <a:bodyPr>
            <a:normAutofit/>
          </a:bodyPr>
          <a:lstStyle/>
          <a:p>
            <a:r>
              <a:rPr lang="en-CA" sz="4000" dirty="0"/>
              <a:t>Demand is a big driver of served rate compounded by no-show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6106BE1-806D-4B56-8473-297C61BC03B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025" y="1742639"/>
            <a:ext cx="5856083" cy="3773920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1C42C6A-656B-42A0-86A9-43C62713C45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742638"/>
            <a:ext cx="5856083" cy="3773921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B142A21-9007-416F-96C9-0308DFA23117}"/>
              </a:ext>
            </a:extLst>
          </p:cNvPr>
          <p:cNvSpPr txBox="1">
            <a:spLocks/>
          </p:cNvSpPr>
          <p:nvPr/>
        </p:nvSpPr>
        <p:spPr>
          <a:xfrm>
            <a:off x="687802" y="5612196"/>
            <a:ext cx="11264281" cy="113606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dirty="0"/>
              <a:t>Under high demand, arrival becomes the main driver for served rate.</a:t>
            </a:r>
          </a:p>
          <a:p>
            <a:r>
              <a:rPr lang="en-CA" dirty="0"/>
              <a:t>Balking rate has minimal effects while no-show further drives down served rate.</a:t>
            </a:r>
          </a:p>
        </p:txBody>
      </p:sp>
    </p:spTree>
    <p:extLst>
      <p:ext uri="{BB962C8B-B14F-4D97-AF65-F5344CB8AC3E}">
        <p14:creationId xmlns:p14="http://schemas.microsoft.com/office/powerpoint/2010/main" val="33595861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633CC-5640-40DD-82F7-8C55D31A5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Threshold mechanisms: magnitude and delay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D00A5A-4B37-44F0-B338-F679E868F6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For both no-show and balking behavior of both classes</a:t>
            </a:r>
          </a:p>
          <a:p>
            <a:r>
              <a:rPr lang="en-CA" dirty="0"/>
              <a:t>Magnitude and delay for probability and threshold</a:t>
            </a:r>
          </a:p>
        </p:txBody>
      </p:sp>
    </p:spTree>
    <p:extLst>
      <p:ext uri="{BB962C8B-B14F-4D97-AF65-F5344CB8AC3E}">
        <p14:creationId xmlns:p14="http://schemas.microsoft.com/office/powerpoint/2010/main" val="28062444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96ABB-6D63-436C-B8C2-BB1B556FC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0883" y="134673"/>
            <a:ext cx="10832711" cy="1479306"/>
          </a:xfrm>
        </p:spPr>
        <p:txBody>
          <a:bodyPr>
            <a:normAutofit/>
          </a:bodyPr>
          <a:lstStyle/>
          <a:p>
            <a:r>
              <a:rPr lang="en-CA" sz="4000" dirty="0"/>
              <a:t>Under heavy demand, balking magnitude shifts appointments to the more wait-tolerant group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212D7A2-18E8-4A84-A31C-045F3288589C}"/>
              </a:ext>
            </a:extLst>
          </p:cNvPr>
          <p:cNvSpPr txBox="1">
            <a:spLocks/>
          </p:cNvSpPr>
          <p:nvPr/>
        </p:nvSpPr>
        <p:spPr>
          <a:xfrm>
            <a:off x="975444" y="5578166"/>
            <a:ext cx="10832711" cy="92221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dirty="0"/>
              <a:t>Overall utilization and served rate is not impacted by balking magnitude.</a:t>
            </a:r>
          </a:p>
          <a:p>
            <a:r>
              <a:rPr lang="en-CA" dirty="0"/>
              <a:t>The wait-tolerant group takes over balked slots.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CEDCDF1F-1F72-4580-9C83-11BF5DD5BF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309" y="1742073"/>
            <a:ext cx="6142491" cy="3541945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19762D0-E7D8-4F88-AA38-383BD046911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396"/>
          <a:stretch/>
        </p:blipFill>
        <p:spPr>
          <a:xfrm>
            <a:off x="6455952" y="1742073"/>
            <a:ext cx="5442493" cy="3541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38084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FFC9F-4A35-4BE1-A567-4D59D0BCA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5144"/>
            <a:ext cx="10515600" cy="1325563"/>
          </a:xfrm>
        </p:spPr>
        <p:txBody>
          <a:bodyPr>
            <a:normAutofit/>
          </a:bodyPr>
          <a:lstStyle/>
          <a:p>
            <a:r>
              <a:rPr lang="en-CA" sz="4000" dirty="0"/>
              <a:t>No-shows reduce average utilization and cause unrecoverable loss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87E130-5C03-41C6-B156-F4E3063675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628" y="5572368"/>
            <a:ext cx="11728256" cy="1082517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CA" sz="2400" dirty="0"/>
              <a:t>In addition to the </a:t>
            </a:r>
            <a:r>
              <a:rPr lang="en-CA" sz="2400" b="1" dirty="0"/>
              <a:t>magnitude</a:t>
            </a:r>
            <a:r>
              <a:rPr lang="en-CA" sz="2400" dirty="0"/>
              <a:t> of no-show and balking, the</a:t>
            </a:r>
            <a:r>
              <a:rPr lang="en-CA" sz="2400" b="1" dirty="0"/>
              <a:t> delay </a:t>
            </a:r>
            <a:r>
              <a:rPr lang="en-CA" sz="2400" dirty="0"/>
              <a:t>also matters.</a:t>
            </a:r>
          </a:p>
          <a:p>
            <a:r>
              <a:rPr lang="en-CA" sz="2400" dirty="0"/>
              <a:t>For example, no-show threshold changes let more/less bookings fall before the no-show threshold.</a:t>
            </a:r>
          </a:p>
          <a:p>
            <a:pPr marL="0" indent="0">
              <a:buNone/>
            </a:pPr>
            <a:endParaRPr lang="en-CA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2A9535-274A-454B-9DAA-7E08D3CD105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6612"/>
          <a:stretch/>
        </p:blipFill>
        <p:spPr>
          <a:xfrm>
            <a:off x="485496" y="2094534"/>
            <a:ext cx="5380594" cy="322347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629A7A0-8C4A-4DBC-97BB-2AF62F9E42D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6997"/>
          <a:stretch/>
        </p:blipFill>
        <p:spPr>
          <a:xfrm>
            <a:off x="6096000" y="2058056"/>
            <a:ext cx="5380594" cy="3289927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1956235-D240-493B-B123-002E69B01EB2}"/>
              </a:ext>
            </a:extLst>
          </p:cNvPr>
          <p:cNvSpPr txBox="1">
            <a:spLocks/>
          </p:cNvSpPr>
          <p:nvPr/>
        </p:nvSpPr>
        <p:spPr>
          <a:xfrm>
            <a:off x="7814813" y="1660707"/>
            <a:ext cx="2618342" cy="6627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CA" sz="1800" dirty="0"/>
              <a:t>Delay – threshold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B61C4F8-76CE-4AAA-9256-D4F8DD4F59FA}"/>
              </a:ext>
            </a:extLst>
          </p:cNvPr>
          <p:cNvSpPr txBox="1">
            <a:spLocks/>
          </p:cNvSpPr>
          <p:nvPr/>
        </p:nvSpPr>
        <p:spPr>
          <a:xfrm>
            <a:off x="1284158" y="1726685"/>
            <a:ext cx="3891197" cy="6627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CA" sz="1800" dirty="0"/>
              <a:t>Magnitude – post threshold probability</a:t>
            </a:r>
          </a:p>
        </p:txBody>
      </p:sp>
    </p:spTree>
    <p:extLst>
      <p:ext uri="{BB962C8B-B14F-4D97-AF65-F5344CB8AC3E}">
        <p14:creationId xmlns:p14="http://schemas.microsoft.com/office/powerpoint/2010/main" val="32810643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0526D7-4325-4EAD-83C4-EFAEFFC15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078" y="282844"/>
            <a:ext cx="11369843" cy="1325563"/>
          </a:xfrm>
        </p:spPr>
        <p:txBody>
          <a:bodyPr>
            <a:normAutofit fontScale="90000"/>
          </a:bodyPr>
          <a:lstStyle/>
          <a:p>
            <a:r>
              <a:rPr lang="en-CA" dirty="0"/>
              <a:t>No-show is the stronger driver of class access, but balking becomes more important as demand increases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B86772-9FF2-423A-B395-50D12B3A74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50705" y="2079523"/>
            <a:ext cx="3130216" cy="3967316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600" dirty="0"/>
              <a:t>The served rate gap difference from making Class 1 more delay-sensitive shows opposing trends over demand.</a:t>
            </a:r>
          </a:p>
          <a:p>
            <a:pPr marL="0" indent="0">
              <a:buNone/>
            </a:pPr>
            <a:endParaRPr lang="en-US" sz="2600" dirty="0"/>
          </a:p>
          <a:p>
            <a:pPr marL="0" indent="0">
              <a:buNone/>
            </a:pPr>
            <a:r>
              <a:rPr lang="en-US" sz="2600" dirty="0"/>
              <a:t>The increase in no-show magnitude of class 1 lowers served rate gap more than an identical increase in balking.</a:t>
            </a:r>
            <a:endParaRPr lang="en-CA" sz="2600" dirty="0"/>
          </a:p>
        </p:txBody>
      </p:sp>
      <p:pic>
        <p:nvPicPr>
          <p:cNvPr id="7" name="Content Placeholder 4">
            <a:extLst>
              <a:ext uri="{FF2B5EF4-FFF2-40B4-BE49-F238E27FC236}">
                <a16:creationId xmlns:a16="http://schemas.microsoft.com/office/drawing/2014/main" id="{773CE6E8-CBA3-482B-93E3-F2E9069B1B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439" y="1727128"/>
            <a:ext cx="7839957" cy="4613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1130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41D3A9-0297-4B7C-9883-BD87C6C835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2346"/>
            <a:ext cx="10515600" cy="1325563"/>
          </a:xfrm>
        </p:spPr>
        <p:txBody>
          <a:bodyPr>
            <a:normAutofit/>
          </a:bodyPr>
          <a:lstStyle/>
          <a:p>
            <a:r>
              <a:rPr lang="en-CA" sz="4000" dirty="0"/>
              <a:t>Cancellation redistributes access and does not waste capacity</a:t>
            </a:r>
          </a:p>
        </p:txBody>
      </p:sp>
      <p:pic>
        <p:nvPicPr>
          <p:cNvPr id="4" name="Content Placeholder 8">
            <a:extLst>
              <a:ext uri="{FF2B5EF4-FFF2-40B4-BE49-F238E27FC236}">
                <a16:creationId xmlns:a16="http://schemas.microsoft.com/office/drawing/2014/main" id="{A6C18586-3ECC-41E4-925E-079E425422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l="894"/>
          <a:stretch/>
        </p:blipFill>
        <p:spPr>
          <a:xfrm>
            <a:off x="439400" y="1600200"/>
            <a:ext cx="5562009" cy="3532504"/>
          </a:xfrm>
        </p:spPr>
      </p:pic>
      <p:sp>
        <p:nvSpPr>
          <p:cNvPr id="5" name="Content Placeholder 11">
            <a:extLst>
              <a:ext uri="{FF2B5EF4-FFF2-40B4-BE49-F238E27FC236}">
                <a16:creationId xmlns:a16="http://schemas.microsoft.com/office/drawing/2014/main" id="{8300D28E-ABE5-4FED-B30F-C34DC7CD9D3A}"/>
              </a:ext>
            </a:extLst>
          </p:cNvPr>
          <p:cNvSpPr txBox="1">
            <a:spLocks/>
          </p:cNvSpPr>
          <p:nvPr/>
        </p:nvSpPr>
        <p:spPr>
          <a:xfrm>
            <a:off x="782871" y="5311292"/>
            <a:ext cx="10810033" cy="132556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sz="2400" dirty="0"/>
              <a:t>Under high demand, cancellations transfer access from one class to the other without significant pooled changes.</a:t>
            </a:r>
          </a:p>
          <a:p>
            <a:r>
              <a:rPr lang="en-CA" sz="2400" dirty="0"/>
              <a:t>Higher cancellation rate can improve utilization and waiting time by allowing appointments to be booked before behavior thresholds.</a:t>
            </a:r>
          </a:p>
        </p:txBody>
      </p:sp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40932703-1B5B-4BE8-BB30-66B2474230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3180" y="1600200"/>
            <a:ext cx="5567408" cy="3532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08383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1F8A5-D20D-418C-8C5D-1FD3CD639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B29AA7-8F44-465A-9A20-C90F4AEFBE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Clr>
                <a:schemeClr val="accent5"/>
              </a:buClr>
              <a:buAutoNum type="arabicPeriod"/>
            </a:pPr>
            <a:r>
              <a:rPr lang="en-CA" sz="2800" dirty="0"/>
              <a:t>Demand is a big driver of served rate compounded by no-show.</a:t>
            </a:r>
          </a:p>
          <a:p>
            <a:pPr marL="514350" indent="-514350">
              <a:buClr>
                <a:schemeClr val="accent5"/>
              </a:buClr>
              <a:buAutoNum type="arabicPeriod"/>
            </a:pPr>
            <a:r>
              <a:rPr lang="en-CA" dirty="0"/>
              <a:t>Balking magnitude mainly redistributes access away from the delay-sensitive group.</a:t>
            </a:r>
          </a:p>
          <a:p>
            <a:pPr marL="514350" indent="-514350">
              <a:buClr>
                <a:schemeClr val="accent5"/>
              </a:buClr>
              <a:buAutoNum type="arabicPeriod"/>
            </a:pPr>
            <a:r>
              <a:rPr lang="en-CA" sz="2800" dirty="0"/>
              <a:t>No-shows cause unrecoverable loss and wast</a:t>
            </a:r>
            <a:r>
              <a:rPr lang="en-CA" dirty="0"/>
              <a:t>e capacity</a:t>
            </a:r>
            <a:r>
              <a:rPr lang="en-CA" sz="2800" dirty="0"/>
              <a:t>.</a:t>
            </a:r>
            <a:endParaRPr lang="en-CA" dirty="0"/>
          </a:p>
          <a:p>
            <a:pPr marL="514350" indent="-514350">
              <a:buClr>
                <a:schemeClr val="accent5"/>
              </a:buClr>
              <a:buAutoNum type="arabicPeriod"/>
            </a:pPr>
            <a:r>
              <a:rPr lang="en-CA" dirty="0"/>
              <a:t>Delay sensitivity matters along with behaviour magnitude.</a:t>
            </a:r>
          </a:p>
          <a:p>
            <a:pPr marL="514350" indent="-514350">
              <a:buClr>
                <a:schemeClr val="accent5"/>
              </a:buClr>
              <a:buAutoNum type="arabicPeriod"/>
            </a:pPr>
            <a:r>
              <a:rPr lang="en-CA" dirty="0"/>
              <a:t>No-show magnitude is the stronger driver of class access </a:t>
            </a:r>
            <a:r>
              <a:rPr lang="en-US" altLang="zh-CN" dirty="0"/>
              <a:t>while</a:t>
            </a:r>
            <a:r>
              <a:rPr lang="en-CA" dirty="0"/>
              <a:t> balking becomes more important as demand increases</a:t>
            </a:r>
          </a:p>
          <a:p>
            <a:pPr marL="514350" indent="-514350">
              <a:buClr>
                <a:schemeClr val="accent5"/>
              </a:buClr>
              <a:buAutoNum type="arabicPeriod"/>
            </a:pPr>
            <a:r>
              <a:rPr lang="en-CA" dirty="0"/>
              <a:t>Cancellation redistributes access and service between classes.</a:t>
            </a:r>
          </a:p>
          <a:p>
            <a:pPr marL="514350" indent="-514350">
              <a:buAutoNum type="arabicPeriod"/>
            </a:pPr>
            <a:endParaRPr lang="en-CA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D9AF329-6B10-4FAC-99AC-950372B42C76}"/>
              </a:ext>
            </a:extLst>
          </p:cNvPr>
          <p:cNvCxnSpPr>
            <a:cxnSpLocks/>
          </p:cNvCxnSpPr>
          <p:nvPr/>
        </p:nvCxnSpPr>
        <p:spPr>
          <a:xfrm flipV="1">
            <a:off x="900663" y="1290484"/>
            <a:ext cx="10190124" cy="803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95039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EE487-300A-4E44-8944-CDBA1EEEB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900" y="326048"/>
            <a:ext cx="10744200" cy="1325563"/>
          </a:xfrm>
        </p:spPr>
        <p:txBody>
          <a:bodyPr/>
          <a:lstStyle/>
          <a:p>
            <a:r>
              <a:rPr lang="en-CA" dirty="0"/>
              <a:t>Next Step: can scheduling policy reduce harm?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567AFB-0276-4A59-89D0-765041CE10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Clr>
                <a:schemeClr val="accent5"/>
              </a:buClr>
            </a:pPr>
            <a:r>
              <a:rPr lang="en-CA" dirty="0"/>
              <a:t>Explore the impact of patient behavior on utilization, served rate, and waiting time when the booking horizon is flexible.</a:t>
            </a:r>
          </a:p>
          <a:p>
            <a:pPr>
              <a:buClr>
                <a:schemeClr val="accent5"/>
              </a:buClr>
            </a:pPr>
            <a:r>
              <a:rPr lang="en-CA" dirty="0"/>
              <a:t>Discover how to optimize metrics by choosing reservation slots and reservation period.</a:t>
            </a:r>
          </a:p>
          <a:p>
            <a:pPr>
              <a:buClr>
                <a:schemeClr val="accent5"/>
              </a:buClr>
            </a:pPr>
            <a:r>
              <a:rPr lang="en-CA" dirty="0"/>
              <a:t>What are the win-win situations of class access and efficiency when policies become flexible?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F2A1E28-F564-4CD5-9DE9-11EEA182BE20}"/>
              </a:ext>
            </a:extLst>
          </p:cNvPr>
          <p:cNvCxnSpPr>
            <a:cxnSpLocks/>
          </p:cNvCxnSpPr>
          <p:nvPr/>
        </p:nvCxnSpPr>
        <p:spPr>
          <a:xfrm flipV="1">
            <a:off x="838200" y="1290484"/>
            <a:ext cx="10392697" cy="803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37211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3CD48-42A2-4E86-9C49-FED4D6F61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Policies in consideration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621A18-CA15-4AC4-90FE-BCA5BCB74E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AutoNum type="arabicPeriod"/>
            </a:pPr>
            <a:r>
              <a:rPr lang="en-CA" dirty="0"/>
              <a:t>Reservation</a:t>
            </a:r>
          </a:p>
          <a:p>
            <a:pPr lvl="1"/>
            <a:r>
              <a:rPr lang="en-CA" dirty="0"/>
              <a:t>Allowing one class to have priority for certain appointments.</a:t>
            </a:r>
          </a:p>
          <a:p>
            <a:pPr lvl="1"/>
            <a:r>
              <a:rPr lang="en-CA" dirty="0"/>
              <a:t>This policy chooses both reserved slots per day and reservation horizon.</a:t>
            </a:r>
          </a:p>
          <a:p>
            <a:pPr marL="514350" indent="-514350">
              <a:buAutoNum type="arabicPeriod"/>
            </a:pPr>
            <a:endParaRPr lang="en-CA" dirty="0"/>
          </a:p>
          <a:p>
            <a:pPr marL="0" indent="0">
              <a:buNone/>
            </a:pPr>
            <a:r>
              <a:rPr lang="en-CA" dirty="0"/>
              <a:t>2. Booking horizon</a:t>
            </a:r>
          </a:p>
          <a:p>
            <a:pPr lvl="1"/>
            <a:r>
              <a:rPr lang="en-CA" dirty="0"/>
              <a:t>Adjusting how early an appointment booking is allowed.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784AF40-FCDC-49B4-8EEC-D83A493E2ADF}"/>
              </a:ext>
            </a:extLst>
          </p:cNvPr>
          <p:cNvCxnSpPr>
            <a:cxnSpLocks/>
          </p:cNvCxnSpPr>
          <p:nvPr/>
        </p:nvCxnSpPr>
        <p:spPr>
          <a:xfrm>
            <a:off x="698879" y="1399115"/>
            <a:ext cx="10794242" cy="0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49251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4863</TotalTime>
  <Words>586</Words>
  <Application>Microsoft Office PowerPoint</Application>
  <PresentationFormat>Widescreen</PresentationFormat>
  <Paragraphs>66</Paragraphs>
  <Slides>13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Office Theme</vt:lpstr>
      <vt:lpstr>Delay-Sensitive Behavior and Patient Access in First Come First Serve</vt:lpstr>
      <vt:lpstr>PowerPoint Presentation</vt:lpstr>
      <vt:lpstr>Patient delay-sensitive behaviors</vt:lpstr>
      <vt:lpstr>PowerPoint Presentation</vt:lpstr>
      <vt:lpstr>Demand is a big driver of served rate compounded by no-show</vt:lpstr>
      <vt:lpstr>Threshold mechanisms: magnitude and delay </vt:lpstr>
      <vt:lpstr>Under heavy demand, balking magnitude shifts appointments to the more wait-tolerant group</vt:lpstr>
      <vt:lpstr>No-shows reduce average utilization and cause unrecoverable loss</vt:lpstr>
      <vt:lpstr>No-show is the stronger driver of class access, but balking becomes more important as demand increases</vt:lpstr>
      <vt:lpstr>Cancellation redistributes access and does not waste capacity</vt:lpstr>
      <vt:lpstr>Summary</vt:lpstr>
      <vt:lpstr>Next Step: can scheduling policy reduce harm?</vt:lpstr>
      <vt:lpstr>Policies in consideration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Tracy Yang</dc:creator>
  <cp:lastModifiedBy>Tracy Yang</cp:lastModifiedBy>
  <cp:revision>94</cp:revision>
  <dcterms:created xsi:type="dcterms:W3CDTF">2026-08-11T19:15:44Z</dcterms:created>
  <dcterms:modified xsi:type="dcterms:W3CDTF">2026-09-06T01:53:01Z</dcterms:modified>
</cp:coreProperties>
</file>