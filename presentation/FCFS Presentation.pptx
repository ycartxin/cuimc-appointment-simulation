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1"/>
  </p:sldMasterIdLst>
  <p:notesMasterIdLst>
    <p:notesMasterId r:id="rId32"/>
  </p:notesMasterIdLst>
  <p:sldIdLst>
    <p:sldId id="256" r:id="rId2"/>
    <p:sldId id="265" r:id="rId3"/>
    <p:sldId id="269" r:id="rId4"/>
    <p:sldId id="257" r:id="rId5"/>
    <p:sldId id="271" r:id="rId6"/>
    <p:sldId id="270" r:id="rId7"/>
    <p:sldId id="268" r:id="rId8"/>
    <p:sldId id="260" r:id="rId9"/>
    <p:sldId id="280" r:id="rId10"/>
    <p:sldId id="279" r:id="rId11"/>
    <p:sldId id="261" r:id="rId12"/>
    <p:sldId id="278" r:id="rId13"/>
    <p:sldId id="263" r:id="rId14"/>
    <p:sldId id="266" r:id="rId15"/>
    <p:sldId id="267" r:id="rId16"/>
    <p:sldId id="272" r:id="rId17"/>
    <p:sldId id="273" r:id="rId18"/>
    <p:sldId id="274" r:id="rId19"/>
    <p:sldId id="275" r:id="rId20"/>
    <p:sldId id="277" r:id="rId21"/>
    <p:sldId id="281" r:id="rId22"/>
    <p:sldId id="276" r:id="rId23"/>
    <p:sldId id="288" r:id="rId24"/>
    <p:sldId id="282" r:id="rId25"/>
    <p:sldId id="285" r:id="rId26"/>
    <p:sldId id="286" r:id="rId27"/>
    <p:sldId id="287" r:id="rId28"/>
    <p:sldId id="290" r:id="rId29"/>
    <p:sldId id="289" r:id="rId30"/>
    <p:sldId id="29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71B4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1" autoAdjust="0"/>
    <p:restoredTop sz="80589" autoAdjust="0"/>
  </p:normalViewPr>
  <p:slideViewPr>
    <p:cSldViewPr snapToGrid="0">
      <p:cViewPr varScale="1">
        <p:scale>
          <a:sx n="68" d="100"/>
          <a:sy n="68" d="100"/>
        </p:scale>
        <p:origin x="741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00E0A-26B8-438F-8C49-C4126C0B2F07}" type="datetimeFigureOut">
              <a:rPr lang="en-CA" smtClean="0"/>
              <a:t>2026-10-14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CC533-38F2-4480-88E0-3DE04AB45AF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6772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3333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6100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0388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005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7270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5782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4085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80421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6335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2681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277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Add the varying parameters and number of scenarios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2647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blurry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733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Add that y-axis is median across balking, blurry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98151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3133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30930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Find out where is meaningful to give up for class 2 get a lot more pareto scenarios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40619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17786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Add 40% line, maybe more</a:t>
            </a:r>
          </a:p>
          <a:p>
            <a:endParaRPr lang="en-CA" dirty="0"/>
          </a:p>
          <a:p>
            <a:r>
              <a:rPr lang="en-CA" dirty="0"/>
              <a:t>Change colors</a:t>
            </a:r>
          </a:p>
          <a:p>
            <a:r>
              <a:rPr lang="en-CA" dirty="0"/>
              <a:t>Change background to scenarios, keep the stats of best policy cell for each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41075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Use best cell from scenario, and then median with min and max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- Take out subtitle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02772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mean across all cells?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CC533-38F2-4480-88E0-3DE04AB45AF2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6281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F276-CA16-4B7F-AC4C-2EDD18BC89A1}" type="datetimeFigureOut">
              <a:rPr lang="en-CA" smtClean="0"/>
              <a:t>2026-10-14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6C885-1CA0-430D-96FE-854959FC4E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299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F276-CA16-4B7F-AC4C-2EDD18BC89A1}" type="datetimeFigureOut">
              <a:rPr lang="en-CA" smtClean="0"/>
              <a:t>2026-10-14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6C885-1CA0-430D-96FE-854959FC4E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499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F276-CA16-4B7F-AC4C-2EDD18BC89A1}" type="datetimeFigureOut">
              <a:rPr lang="en-CA" smtClean="0"/>
              <a:t>2026-10-14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6C885-1CA0-430D-96FE-854959FC4E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954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F276-CA16-4B7F-AC4C-2EDD18BC89A1}" type="datetimeFigureOut">
              <a:rPr lang="en-CA" smtClean="0"/>
              <a:t>2026-10-14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6C885-1CA0-430D-96FE-854959FC4E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4985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F276-CA16-4B7F-AC4C-2EDD18BC89A1}" type="datetimeFigureOut">
              <a:rPr lang="en-CA" smtClean="0"/>
              <a:t>2026-10-14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6C885-1CA0-430D-96FE-854959FC4E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1115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F276-CA16-4B7F-AC4C-2EDD18BC89A1}" type="datetimeFigureOut">
              <a:rPr lang="en-CA" smtClean="0"/>
              <a:t>2026-10-14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6C885-1CA0-430D-96FE-854959FC4E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908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F276-CA16-4B7F-AC4C-2EDD18BC89A1}" type="datetimeFigureOut">
              <a:rPr lang="en-CA" smtClean="0"/>
              <a:t>2026-10-14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6C885-1CA0-430D-96FE-854959FC4E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98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F276-CA16-4B7F-AC4C-2EDD18BC89A1}" type="datetimeFigureOut">
              <a:rPr lang="en-CA" smtClean="0"/>
              <a:t>2026-10-14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6C885-1CA0-430D-96FE-854959FC4E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7081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F276-CA16-4B7F-AC4C-2EDD18BC89A1}" type="datetimeFigureOut">
              <a:rPr lang="en-CA" smtClean="0"/>
              <a:t>2026-10-14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6C885-1CA0-430D-96FE-854959FC4E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8738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F276-CA16-4B7F-AC4C-2EDD18BC89A1}" type="datetimeFigureOut">
              <a:rPr lang="en-CA" smtClean="0"/>
              <a:t>2026-10-14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6C885-1CA0-430D-96FE-854959FC4E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7739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F276-CA16-4B7F-AC4C-2EDD18BC89A1}" type="datetimeFigureOut">
              <a:rPr lang="en-CA" smtClean="0"/>
              <a:t>2026-10-14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6C885-1CA0-430D-96FE-854959FC4E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856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9F276-CA16-4B7F-AC4C-2EDD18BC89A1}" type="datetimeFigureOut">
              <a:rPr lang="en-CA" smtClean="0"/>
              <a:t>2026-10-14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885-1CA0-430D-96FE-854959FC4E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7510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3D895-4164-4829-990F-701F05D72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5354" y="1813719"/>
            <a:ext cx="8424986" cy="2586344"/>
          </a:xfrm>
          <a:ln w="19050">
            <a:solidFill>
              <a:schemeClr val="accent5"/>
            </a:solidFill>
          </a:ln>
        </p:spPr>
        <p:txBody>
          <a:bodyPr anchor="ctr">
            <a:normAutofit/>
          </a:bodyPr>
          <a:lstStyle/>
          <a:p>
            <a:r>
              <a:rPr lang="en-CA" sz="5400" dirty="0">
                <a:solidFill>
                  <a:schemeClr val="bg1"/>
                </a:solidFill>
              </a:rPr>
              <a:t>Delay-Sensitive Behavior and Patient Access in First Come First Serve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58216D77-F8D2-4FFF-AE59-C966B9A38E6C}"/>
              </a:ext>
            </a:extLst>
          </p:cNvPr>
          <p:cNvSpPr/>
          <p:nvPr/>
        </p:nvSpPr>
        <p:spPr>
          <a:xfrm rot="16200000">
            <a:off x="11030339" y="5696339"/>
            <a:ext cx="1222310" cy="1101012"/>
          </a:xfrm>
          <a:prstGeom prst="rt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6641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94EED-0BE8-4240-9E72-6B2AA15A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967" y="2262256"/>
            <a:ext cx="10515600" cy="1422400"/>
          </a:xfrm>
        </p:spPr>
        <p:txBody>
          <a:bodyPr>
            <a:normAutofit fontScale="92500"/>
          </a:bodyPr>
          <a:lstStyle/>
          <a:p>
            <a:r>
              <a:rPr lang="en-CA" dirty="0"/>
              <a:t>Long waits can change patient behavior, leading to no-show and balking.</a:t>
            </a:r>
          </a:p>
          <a:p>
            <a:r>
              <a:rPr lang="en-CA" dirty="0"/>
              <a:t>These behaviors lower overall served rate and waste utilization capacity.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2B1E70-B1C0-4E07-B39D-21A7CC363E39}"/>
              </a:ext>
            </a:extLst>
          </p:cNvPr>
          <p:cNvSpPr txBox="1">
            <a:spLocks/>
          </p:cNvSpPr>
          <p:nvPr/>
        </p:nvSpPr>
        <p:spPr>
          <a:xfrm>
            <a:off x="668740" y="450499"/>
            <a:ext cx="10671412" cy="1586768"/>
          </a:xfrm>
          <a:prstGeom prst="rect">
            <a:avLst/>
          </a:prstGeom>
          <a:ln w="19050">
            <a:solidFill>
              <a:schemeClr val="accent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Existing appointment scheduling approaches lead to long wait and idleness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A85636-B2D4-4CAF-B695-C0FA4DEBE07E}"/>
              </a:ext>
            </a:extLst>
          </p:cNvPr>
          <p:cNvSpPr txBox="1">
            <a:spLocks/>
          </p:cNvSpPr>
          <p:nvPr/>
        </p:nvSpPr>
        <p:spPr>
          <a:xfrm>
            <a:off x="532320" y="3438139"/>
            <a:ext cx="11222893" cy="898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dirty="0"/>
              <a:t>Question: How does patient sensitivity to appointment delay affect patient access and efficiency?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C5C35-1296-4D98-B436-296206CDD211}"/>
              </a:ext>
            </a:extLst>
          </p:cNvPr>
          <p:cNvSpPr txBox="1"/>
          <p:nvPr/>
        </p:nvSpPr>
        <p:spPr>
          <a:xfrm>
            <a:off x="1704264" y="4362708"/>
            <a:ext cx="8783472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dirty="0"/>
              <a:t>We focus on three metrics: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sz="2400" b="1" dirty="0"/>
              <a:t>Average utilization:</a:t>
            </a:r>
            <a:r>
              <a:rPr lang="en-CA" sz="2400" dirty="0"/>
              <a:t> on average, the fraction of appointment capacity that becomes completed visits.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sz="2400" b="1" dirty="0"/>
              <a:t>Served rate: </a:t>
            </a:r>
            <a:r>
              <a:rPr lang="en-CA" sz="2400" dirty="0"/>
              <a:t>the fraction of arriving patients that receive care.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sz="2400" b="1" dirty="0"/>
              <a:t>Waiting time:</a:t>
            </a:r>
            <a:r>
              <a:rPr lang="en-CA" sz="2400" dirty="0"/>
              <a:t> the average delay of all appointments offered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D840E3-5C3C-4C2B-9D2C-0C36849BE12C}"/>
              </a:ext>
            </a:extLst>
          </p:cNvPr>
          <p:cNvCxnSpPr>
            <a:cxnSpLocks/>
          </p:cNvCxnSpPr>
          <p:nvPr/>
        </p:nvCxnSpPr>
        <p:spPr>
          <a:xfrm>
            <a:off x="607325" y="4230806"/>
            <a:ext cx="10794242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462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75A36-4458-4BA4-94FE-87FC979B0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690" y="555792"/>
            <a:ext cx="10515600" cy="1325563"/>
          </a:xfrm>
        </p:spPr>
        <p:txBody>
          <a:bodyPr/>
          <a:lstStyle/>
          <a:p>
            <a:r>
              <a:rPr lang="en-CA" dirty="0"/>
              <a:t>Patient delay-sensitive behaviors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9F570-54EE-4EB6-AF28-B82B400E4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879" y="2381535"/>
            <a:ext cx="4204648" cy="3167632"/>
          </a:xfrm>
          <a:ln w="28575">
            <a:solidFill>
              <a:schemeClr val="accent5"/>
            </a:solidFill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endParaRPr lang="en-CA" sz="3200" dirty="0"/>
          </a:p>
          <a:p>
            <a:pPr marL="0" indent="0" algn="ctr">
              <a:buNone/>
            </a:pPr>
            <a:r>
              <a:rPr lang="en-CA" sz="3200" dirty="0"/>
              <a:t>Balking</a:t>
            </a:r>
          </a:p>
          <a:p>
            <a:pPr marL="0" indent="0">
              <a:buNone/>
            </a:pPr>
            <a:endParaRPr lang="en-CA" sz="1600" dirty="0"/>
          </a:p>
          <a:p>
            <a:pPr marL="0" indent="0" algn="ctr">
              <a:buNone/>
            </a:pPr>
            <a:r>
              <a:rPr lang="en-CA" dirty="0"/>
              <a:t>The patient is offered an appointment, but decides to not take it because the wait is too long.</a:t>
            </a:r>
            <a:endParaRPr lang="en-CA" sz="3200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2962AA-5B4F-4467-8043-1E3C1F42FDA1}"/>
              </a:ext>
            </a:extLst>
          </p:cNvPr>
          <p:cNvSpPr txBox="1">
            <a:spLocks/>
          </p:cNvSpPr>
          <p:nvPr/>
        </p:nvSpPr>
        <p:spPr>
          <a:xfrm>
            <a:off x="6362131" y="2381535"/>
            <a:ext cx="4204648" cy="3167632"/>
          </a:xfrm>
          <a:prstGeom prst="rect">
            <a:avLst/>
          </a:prstGeom>
          <a:ln w="28575">
            <a:solidFill>
              <a:schemeClr val="accent5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CA" sz="32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CA" sz="3200" dirty="0"/>
              <a:t>No-show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CA" sz="16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CA" dirty="0"/>
              <a:t>The patient is offered an appointment, but decides to not show-up because the wait is too long.</a:t>
            </a:r>
            <a:endParaRPr lang="en-CA" sz="3200" dirty="0"/>
          </a:p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E56468-AE16-4715-8196-6A22D5D4D820}"/>
              </a:ext>
            </a:extLst>
          </p:cNvPr>
          <p:cNvCxnSpPr/>
          <p:nvPr/>
        </p:nvCxnSpPr>
        <p:spPr>
          <a:xfrm>
            <a:off x="878540" y="1562568"/>
            <a:ext cx="781448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142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D94E28A-409C-4609-BC33-BA43ED984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54" y="182462"/>
            <a:ext cx="9917092" cy="558133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89932-B7AC-427E-BEBC-D83D8C5098D4}"/>
              </a:ext>
            </a:extLst>
          </p:cNvPr>
          <p:cNvSpPr txBox="1">
            <a:spLocks/>
          </p:cNvSpPr>
          <p:nvPr/>
        </p:nvSpPr>
        <p:spPr>
          <a:xfrm>
            <a:off x="727587" y="5881127"/>
            <a:ext cx="10842523" cy="1028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dirty="0"/>
              <a:t>30 day burn-in          365-day measurement period          10-day cooldown 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124CE662-62E3-4BD8-B58D-CD6F43CCE2D4}"/>
              </a:ext>
            </a:extLst>
          </p:cNvPr>
          <p:cNvSpPr/>
          <p:nvPr/>
        </p:nvSpPr>
        <p:spPr>
          <a:xfrm>
            <a:off x="3089786" y="6043151"/>
            <a:ext cx="486697" cy="140110"/>
          </a:xfrm>
          <a:prstGeom prst="right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F5541E3-9F21-4C57-8E64-5F98605BC058}"/>
              </a:ext>
            </a:extLst>
          </p:cNvPr>
          <p:cNvSpPr/>
          <p:nvPr/>
        </p:nvSpPr>
        <p:spPr>
          <a:xfrm>
            <a:off x="8197644" y="6043151"/>
            <a:ext cx="486697" cy="140110"/>
          </a:xfrm>
          <a:prstGeom prst="right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4397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33CC-5640-40DD-82F7-8C55D31A5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442" y="143347"/>
            <a:ext cx="11213210" cy="1325563"/>
          </a:xfrm>
        </p:spPr>
        <p:txBody>
          <a:bodyPr/>
          <a:lstStyle/>
          <a:p>
            <a:r>
              <a:rPr lang="en-CA" dirty="0"/>
              <a:t>Threshold mechanisms: probabilities and delay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00A5A-4B37-44F0-B338-F679E868F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4958" y="1258552"/>
            <a:ext cx="10515600" cy="683544"/>
          </a:xfrm>
        </p:spPr>
        <p:txBody>
          <a:bodyPr/>
          <a:lstStyle/>
          <a:p>
            <a:r>
              <a:rPr lang="en-CA" dirty="0"/>
              <a:t>For both no-show and balking behavior of both classes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6C956F-E1E0-433E-B511-6DB5B8C18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891" y="1942096"/>
            <a:ext cx="8322891" cy="438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44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3D558-104E-46B9-A53B-CC248BF90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719" y="321438"/>
            <a:ext cx="11024364" cy="1325563"/>
          </a:xfrm>
        </p:spPr>
        <p:txBody>
          <a:bodyPr>
            <a:normAutofit/>
          </a:bodyPr>
          <a:lstStyle/>
          <a:p>
            <a:r>
              <a:rPr lang="en-CA" sz="4000" dirty="0"/>
              <a:t>Demand is a big driver of served rate compounded by no-show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142A21-9007-416F-96C9-0308DFA23117}"/>
              </a:ext>
            </a:extLst>
          </p:cNvPr>
          <p:cNvSpPr txBox="1">
            <a:spLocks/>
          </p:cNvSpPr>
          <p:nvPr/>
        </p:nvSpPr>
        <p:spPr>
          <a:xfrm>
            <a:off x="463859" y="5400498"/>
            <a:ext cx="11264281" cy="113606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Under high demand, arrival becomes the main driver for served rate.</a:t>
            </a:r>
          </a:p>
          <a:p>
            <a:r>
              <a:rPr lang="en-CA" dirty="0"/>
              <a:t>Balking rate has minimal effect while an increase in no-show post probability further drives down served rate.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A07281E-6E5D-46F7-ADDC-8584EE6A4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03" y="1812702"/>
            <a:ext cx="5400261" cy="3403452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325E58-3055-4045-B165-07194A78D8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700" y="1641844"/>
            <a:ext cx="5671360" cy="357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86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96ABB-6D63-436C-B8C2-BB1B556F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883" y="134673"/>
            <a:ext cx="10832711" cy="1479306"/>
          </a:xfrm>
        </p:spPr>
        <p:txBody>
          <a:bodyPr>
            <a:normAutofit/>
          </a:bodyPr>
          <a:lstStyle/>
          <a:p>
            <a:r>
              <a:rPr lang="en-CA" sz="4000" dirty="0"/>
              <a:t>Under heavy demand, balking post probability shifts appointments to the more wait-tolerant group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212D7A2-18E8-4A84-A31C-045F3288589C}"/>
              </a:ext>
            </a:extLst>
          </p:cNvPr>
          <p:cNvSpPr txBox="1">
            <a:spLocks/>
          </p:cNvSpPr>
          <p:nvPr/>
        </p:nvSpPr>
        <p:spPr>
          <a:xfrm>
            <a:off x="780883" y="5587592"/>
            <a:ext cx="10832711" cy="9222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Overall utilization and served rate is not impacted by balking post probability.</a:t>
            </a:r>
          </a:p>
          <a:p>
            <a:r>
              <a:rPr lang="en-CA" dirty="0"/>
              <a:t>The wait-tolerant group takes over balked slots.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BBDB6B9-A299-4D1A-8014-E1BF9DAF6F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" y="1703951"/>
            <a:ext cx="5724023" cy="3607499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1811C4-4438-442A-AC72-A8CED8D9BD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03951"/>
            <a:ext cx="5724024" cy="360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808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FFC9F-4A35-4BE1-A567-4D59D0BCA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144"/>
            <a:ext cx="10515600" cy="1325563"/>
          </a:xfrm>
        </p:spPr>
        <p:txBody>
          <a:bodyPr>
            <a:normAutofit/>
          </a:bodyPr>
          <a:lstStyle/>
          <a:p>
            <a:r>
              <a:rPr lang="en-CA" sz="4000" dirty="0"/>
              <a:t>No-shows reduce average utilization and cause unrecoverable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7E130-5C03-41C6-B156-F4E306367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28" y="5572368"/>
            <a:ext cx="11728256" cy="108251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CA" sz="2400" dirty="0"/>
              <a:t>In addition to the </a:t>
            </a:r>
            <a:r>
              <a:rPr lang="en-CA" sz="2400" b="1" dirty="0"/>
              <a:t>post probability</a:t>
            </a:r>
            <a:r>
              <a:rPr lang="en-CA" sz="2400" dirty="0"/>
              <a:t> of no-show and balking, the</a:t>
            </a:r>
            <a:r>
              <a:rPr lang="en-CA" sz="2400" b="1" dirty="0"/>
              <a:t> delay </a:t>
            </a:r>
            <a:r>
              <a:rPr lang="en-CA" sz="2400" dirty="0"/>
              <a:t>also matters.</a:t>
            </a:r>
          </a:p>
          <a:p>
            <a:r>
              <a:rPr lang="en-CA" sz="2400" dirty="0"/>
              <a:t>For example, no-show threshold changes let more/less bookings fall before the no-show threshold.</a:t>
            </a:r>
          </a:p>
          <a:p>
            <a:pPr marL="0" indent="0">
              <a:buNone/>
            </a:pPr>
            <a:endParaRPr lang="en-CA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A8BDFE-1BF3-4206-B4F7-C70774685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22" y="1828805"/>
            <a:ext cx="5673194" cy="35754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83DFAC-3F4A-46F9-97E5-0E86633BCF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716" y="1716444"/>
            <a:ext cx="5851478" cy="368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064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CB269-FF68-4079-8A14-79E62DA42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35" y="393305"/>
            <a:ext cx="11693165" cy="982907"/>
          </a:xfrm>
        </p:spPr>
        <p:txBody>
          <a:bodyPr>
            <a:normAutofit fontScale="90000"/>
          </a:bodyPr>
          <a:lstStyle/>
          <a:p>
            <a:r>
              <a:rPr lang="en-CA" dirty="0"/>
              <a:t>No-show vs. balking, how do they affect served rate?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FCFDC2-EA91-4801-BBEF-0EB14B7596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" t="3139" r="2784" b="26111"/>
          <a:stretch/>
        </p:blipFill>
        <p:spPr>
          <a:xfrm>
            <a:off x="0" y="2172305"/>
            <a:ext cx="12189279" cy="42579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6FC68E-1E8D-43D9-8ADA-D8CC1BC28967}"/>
              </a:ext>
            </a:extLst>
          </p:cNvPr>
          <p:cNvSpPr txBox="1"/>
          <p:nvPr/>
        </p:nvSpPr>
        <p:spPr>
          <a:xfrm>
            <a:off x="364035" y="1439764"/>
            <a:ext cx="3168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u="sng" dirty="0"/>
              <a:t>Experiment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A43F9F-8A19-4C74-94A2-F82D4CD6AF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" t="80979" r="2784" b="12944"/>
          <a:stretch/>
        </p:blipFill>
        <p:spPr>
          <a:xfrm>
            <a:off x="2721" y="6492240"/>
            <a:ext cx="1218927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330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3FCA0-7281-4BE9-BD26-A09DD645F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066" y="439691"/>
            <a:ext cx="10879554" cy="995271"/>
          </a:xfrm>
        </p:spPr>
        <p:txBody>
          <a:bodyPr>
            <a:normAutofit fontScale="90000"/>
          </a:bodyPr>
          <a:lstStyle/>
          <a:p>
            <a:r>
              <a:rPr lang="en-CA" dirty="0"/>
              <a:t>No-show heavily impacts the class’s own served rate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6F38F5-161F-4F18-8269-4DCDFE3D9C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6" b="9124"/>
          <a:stretch/>
        </p:blipFill>
        <p:spPr>
          <a:xfrm>
            <a:off x="0" y="4033620"/>
            <a:ext cx="4114798" cy="22032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8A84CE-B2A0-4BD0-A858-F64E64014EC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t="6119" r="900" b="9744"/>
          <a:stretch/>
        </p:blipFill>
        <p:spPr>
          <a:xfrm>
            <a:off x="8172450" y="3991686"/>
            <a:ext cx="4019550" cy="2245182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BDF6EEBB-ED9C-4CA4-8619-C65E53317E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t="6119" b="9744"/>
          <a:stretch/>
        </p:blipFill>
        <p:spPr>
          <a:xfrm>
            <a:off x="4114800" y="3991687"/>
            <a:ext cx="4057650" cy="2245182"/>
          </a:xfrm>
        </p:spPr>
      </p:pic>
      <p:sp>
        <p:nvSpPr>
          <p:cNvPr id="20" name="Content Placeholder 11">
            <a:extLst>
              <a:ext uri="{FF2B5EF4-FFF2-40B4-BE49-F238E27FC236}">
                <a16:creationId xmlns:a16="http://schemas.microsoft.com/office/drawing/2014/main" id="{8F0E5391-B710-4675-9FC0-8DA497457A3A}"/>
              </a:ext>
            </a:extLst>
          </p:cNvPr>
          <p:cNvSpPr txBox="1">
            <a:spLocks/>
          </p:cNvSpPr>
          <p:nvPr/>
        </p:nvSpPr>
        <p:spPr>
          <a:xfrm>
            <a:off x="438010" y="1560380"/>
            <a:ext cx="10879553" cy="14334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No-show’s served rate impacts come from the change in each class’s post probability. The other class’s served rate is not impacted.</a:t>
            </a:r>
          </a:p>
          <a:p>
            <a:r>
              <a:rPr lang="en-CA" dirty="0"/>
              <a:t>No-show’s biggest served rate effects comes from pre-probability increases during low demand.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F03D47-D8CB-4534-B002-19B07CD4F4A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" t="19635" r="2784" b="70055"/>
          <a:stretch/>
        </p:blipFill>
        <p:spPr>
          <a:xfrm>
            <a:off x="2721" y="3162299"/>
            <a:ext cx="12189279" cy="62048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7817D10-47AB-4363-8ECD-85096A2647C7}"/>
              </a:ext>
            </a:extLst>
          </p:cNvPr>
          <p:cNvSpPr txBox="1">
            <a:spLocks/>
          </p:cNvSpPr>
          <p:nvPr/>
        </p:nvSpPr>
        <p:spPr>
          <a:xfrm>
            <a:off x="5706789" y="6400765"/>
            <a:ext cx="1067709" cy="323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sz="1600" dirty="0"/>
              <a:t>Demand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1BCA71-A66F-4E26-84E1-CDC5A1FE610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88961" r="2359" b="5676"/>
          <a:stretch/>
        </p:blipFill>
        <p:spPr>
          <a:xfrm>
            <a:off x="341086" y="6202349"/>
            <a:ext cx="3730171" cy="1403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ED54C8-7A76-43EF-8510-8AD7B55FE70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88961" r="2359" b="5676"/>
          <a:stretch/>
        </p:blipFill>
        <p:spPr>
          <a:xfrm>
            <a:off x="4278539" y="6222354"/>
            <a:ext cx="3730171" cy="1403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A20CB3-F48D-4548-9727-5AD63EA0B69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88961" r="2359" b="5676"/>
          <a:stretch/>
        </p:blipFill>
        <p:spPr>
          <a:xfrm>
            <a:off x="8379732" y="6202349"/>
            <a:ext cx="3730171" cy="1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689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526D7-4325-4EAD-83C4-EFAEFFC15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64" y="495588"/>
            <a:ext cx="11369843" cy="900538"/>
          </a:xfrm>
        </p:spPr>
        <p:txBody>
          <a:bodyPr>
            <a:normAutofit/>
          </a:bodyPr>
          <a:lstStyle/>
          <a:p>
            <a:r>
              <a:rPr lang="en-CA" sz="4000" dirty="0"/>
              <a:t>Balking impacts both classes’ served rate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446729B-0594-486B-9E45-8E755FCA0CAA}"/>
              </a:ext>
            </a:extLst>
          </p:cNvPr>
          <p:cNvSpPr txBox="1">
            <a:spLocks/>
          </p:cNvSpPr>
          <p:nvPr/>
        </p:nvSpPr>
        <p:spPr>
          <a:xfrm>
            <a:off x="701364" y="1631190"/>
            <a:ext cx="10675257" cy="112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600" dirty="0"/>
              <a:t>Class 1 balking </a:t>
            </a:r>
            <a:r>
              <a:rPr lang="en-CA" sz="2600" dirty="0">
                <a:solidFill>
                  <a:srgbClr val="C00000"/>
                </a:solidFill>
              </a:rPr>
              <a:t>positively impacts</a:t>
            </a:r>
            <a:r>
              <a:rPr lang="en-CA" sz="2600" dirty="0"/>
              <a:t> Class 2’s served rate.  </a:t>
            </a:r>
          </a:p>
          <a:p>
            <a:r>
              <a:rPr lang="en-CA" sz="2600" dirty="0"/>
              <a:t>This impact peaks with pre-threshold balking at low to moderate </a:t>
            </a:r>
            <a:r>
              <a:rPr lang="en-CA" dirty="0"/>
              <a:t>demand.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CA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FF403-5229-4AC7-8508-370FD4C427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9" t="5884" b="10155"/>
          <a:stretch/>
        </p:blipFill>
        <p:spPr>
          <a:xfrm>
            <a:off x="8184575" y="4007209"/>
            <a:ext cx="4007425" cy="22109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145B6E-EA69-4588-ADFF-7FFA886F5C8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4" t="6054" b="10018"/>
          <a:stretch/>
        </p:blipFill>
        <p:spPr>
          <a:xfrm>
            <a:off x="4160542" y="3998684"/>
            <a:ext cx="4044816" cy="22303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017509-B648-40AF-9201-85694E1A34F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3" b="9358"/>
          <a:stretch/>
        </p:blipFill>
        <p:spPr>
          <a:xfrm>
            <a:off x="0" y="4007209"/>
            <a:ext cx="4140801" cy="222184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A3DE8B4-4215-4132-915E-7B45A1617088}"/>
              </a:ext>
            </a:extLst>
          </p:cNvPr>
          <p:cNvSpPr/>
          <p:nvPr/>
        </p:nvSpPr>
        <p:spPr>
          <a:xfrm>
            <a:off x="421775" y="3942079"/>
            <a:ext cx="1447002" cy="146646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364DF6-F668-4ABC-8F7E-227CFCCB0F7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" t="19635" r="2784" b="70055"/>
          <a:stretch/>
        </p:blipFill>
        <p:spPr>
          <a:xfrm>
            <a:off x="2721" y="3162299"/>
            <a:ext cx="12189279" cy="6204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04CC41-26A3-40DE-9CDD-04D0C5B64FB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88961" r="2359" b="5676"/>
          <a:stretch/>
        </p:blipFill>
        <p:spPr>
          <a:xfrm>
            <a:off x="333829" y="6203633"/>
            <a:ext cx="3730171" cy="1403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86852C-F4C3-453A-9D76-534C560B383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88961" r="2359" b="5676"/>
          <a:stretch/>
        </p:blipFill>
        <p:spPr>
          <a:xfrm>
            <a:off x="4357862" y="6202349"/>
            <a:ext cx="3730171" cy="1403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E68BC1-B774-455B-AA42-E429343FD73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88961" r="2359" b="5676"/>
          <a:stretch/>
        </p:blipFill>
        <p:spPr>
          <a:xfrm>
            <a:off x="8441164" y="6212026"/>
            <a:ext cx="3730171" cy="140360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51F9C5-C291-4005-AA24-0BFB97E03E4F}"/>
              </a:ext>
            </a:extLst>
          </p:cNvPr>
          <p:cNvSpPr txBox="1">
            <a:spLocks/>
          </p:cNvSpPr>
          <p:nvPr/>
        </p:nvSpPr>
        <p:spPr>
          <a:xfrm>
            <a:off x="5706789" y="6400765"/>
            <a:ext cx="1067709" cy="323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sz="1600" dirty="0"/>
              <a:t>Demand</a:t>
            </a:r>
          </a:p>
        </p:txBody>
      </p:sp>
    </p:spTree>
    <p:extLst>
      <p:ext uri="{BB962C8B-B14F-4D97-AF65-F5344CB8AC3E}">
        <p14:creationId xmlns:p14="http://schemas.microsoft.com/office/powerpoint/2010/main" val="103113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7E51E-BC9D-430C-BB22-43DF08B12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314" y="382046"/>
            <a:ext cx="10515600" cy="1088118"/>
          </a:xfrm>
        </p:spPr>
        <p:txBody>
          <a:bodyPr>
            <a:normAutofit/>
          </a:bodyPr>
          <a:lstStyle/>
          <a:p>
            <a:r>
              <a:rPr lang="en-CA" dirty="0"/>
              <a:t>Summary - no-show vs. balking on served rate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E1F5C417-0443-41F8-A6E7-018DE4E0628A}"/>
              </a:ext>
            </a:extLst>
          </p:cNvPr>
          <p:cNvSpPr txBox="1">
            <a:spLocks/>
          </p:cNvSpPr>
          <p:nvPr/>
        </p:nvSpPr>
        <p:spPr>
          <a:xfrm>
            <a:off x="700314" y="2854505"/>
            <a:ext cx="5064759" cy="330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Served rate impacts come from the change in each class’s post-probability.</a:t>
            </a:r>
          </a:p>
          <a:p>
            <a:r>
              <a:rPr lang="en-CA" sz="2800" dirty="0"/>
              <a:t>Minimally impacts the other class’s served rate.</a:t>
            </a:r>
          </a:p>
          <a:p>
            <a:r>
              <a:rPr lang="en-CA" dirty="0"/>
              <a:t>Biggest impact is at low demand with pre probability</a:t>
            </a:r>
            <a:endParaRPr lang="en-CA" sz="2800" dirty="0"/>
          </a:p>
        </p:txBody>
      </p:sp>
      <p:sp>
        <p:nvSpPr>
          <p:cNvPr id="6" name="Content Placeholder 11">
            <a:extLst>
              <a:ext uri="{FF2B5EF4-FFF2-40B4-BE49-F238E27FC236}">
                <a16:creationId xmlns:a16="http://schemas.microsoft.com/office/drawing/2014/main" id="{6BBC9C67-0C33-41DE-84BA-0092601AAA87}"/>
              </a:ext>
            </a:extLst>
          </p:cNvPr>
          <p:cNvSpPr txBox="1">
            <a:spLocks/>
          </p:cNvSpPr>
          <p:nvPr/>
        </p:nvSpPr>
        <p:spPr>
          <a:xfrm>
            <a:off x="6277429" y="2854504"/>
            <a:ext cx="5064759" cy="3205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Consistent minimal changes from post probability balking on served rate.</a:t>
            </a:r>
          </a:p>
          <a:p>
            <a:r>
              <a:rPr lang="en-CA" sz="2800" dirty="0"/>
              <a:t>Served rate effects positively impact the other class.</a:t>
            </a:r>
          </a:p>
          <a:p>
            <a:r>
              <a:rPr lang="en-CA" dirty="0"/>
              <a:t>Biggest impact is at low demand with pre probability</a:t>
            </a:r>
            <a:endParaRPr lang="en-CA" sz="4000" dirty="0"/>
          </a:p>
          <a:p>
            <a:endParaRPr lang="en-CA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E7F9DAC-AC61-432B-BB03-0B306FAC4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572" y="1964778"/>
            <a:ext cx="2202542" cy="8897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3200" u="sng" dirty="0"/>
              <a:t>No-show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8418D4-0F18-4330-912C-CF2681DDED48}"/>
              </a:ext>
            </a:extLst>
          </p:cNvPr>
          <p:cNvSpPr txBox="1">
            <a:spLocks/>
          </p:cNvSpPr>
          <p:nvPr/>
        </p:nvSpPr>
        <p:spPr>
          <a:xfrm>
            <a:off x="7757888" y="1964777"/>
            <a:ext cx="2202542" cy="889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sz="3200" u="sng" dirty="0"/>
              <a:t>Balking</a:t>
            </a:r>
          </a:p>
        </p:txBody>
      </p:sp>
    </p:spTree>
    <p:extLst>
      <p:ext uri="{BB962C8B-B14F-4D97-AF65-F5344CB8AC3E}">
        <p14:creationId xmlns:p14="http://schemas.microsoft.com/office/powerpoint/2010/main" val="1405585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D3A9-0297-4B7C-9883-BD87C6C83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346"/>
            <a:ext cx="10515600" cy="1325563"/>
          </a:xfrm>
        </p:spPr>
        <p:txBody>
          <a:bodyPr>
            <a:normAutofit/>
          </a:bodyPr>
          <a:lstStyle/>
          <a:p>
            <a:r>
              <a:rPr lang="en-CA" sz="4000" dirty="0"/>
              <a:t>Cancellation redistributes access and does not waste capacity</a:t>
            </a:r>
          </a:p>
        </p:txBody>
      </p:sp>
      <p:sp>
        <p:nvSpPr>
          <p:cNvPr id="5" name="Content Placeholder 11">
            <a:extLst>
              <a:ext uri="{FF2B5EF4-FFF2-40B4-BE49-F238E27FC236}">
                <a16:creationId xmlns:a16="http://schemas.microsoft.com/office/drawing/2014/main" id="{8300D28E-ABE5-4FED-B30F-C34DC7CD9D3A}"/>
              </a:ext>
            </a:extLst>
          </p:cNvPr>
          <p:cNvSpPr txBox="1">
            <a:spLocks/>
          </p:cNvSpPr>
          <p:nvPr/>
        </p:nvSpPr>
        <p:spPr>
          <a:xfrm>
            <a:off x="782871" y="5311292"/>
            <a:ext cx="10810033" cy="13255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400" dirty="0"/>
              <a:t>Under high demand, cancellations transfer access from one class to the other without significant pooled changes.</a:t>
            </a:r>
          </a:p>
          <a:p>
            <a:r>
              <a:rPr lang="en-CA" sz="2400" dirty="0"/>
              <a:t>Higher cancellation rate can improve utilization and waiting time by allowing appointments to be booked before behavior thresholds.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F751082-0A6E-4A93-89BF-226CD1AFA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15" y="1611044"/>
            <a:ext cx="5741185" cy="3618315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AB64E3-04CF-4B8C-98CD-B346944CF7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887" y="1602246"/>
            <a:ext cx="5741186" cy="361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838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1F8A5-D20D-418C-8C5D-1FD3CD639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29AA7-8F44-465A-9A20-C90F4AEFB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333"/>
            <a:ext cx="10515600" cy="458365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Clr>
                <a:schemeClr val="accent5"/>
              </a:buClr>
              <a:buAutoNum type="arabicPeriod"/>
            </a:pPr>
            <a:r>
              <a:rPr lang="en-CA" sz="2800" dirty="0"/>
              <a:t>Demand is a big driver of served rate compounded by no-show.</a:t>
            </a:r>
          </a:p>
          <a:p>
            <a:pPr marL="514350" indent="-514350">
              <a:buClr>
                <a:schemeClr val="accent5"/>
              </a:buClr>
              <a:buAutoNum type="arabicPeriod"/>
            </a:pPr>
            <a:r>
              <a:rPr lang="en-CA" dirty="0"/>
              <a:t>Balking post probability mainly redistributes access away from the delay-sensitive group.</a:t>
            </a:r>
          </a:p>
          <a:p>
            <a:pPr marL="514350" indent="-514350">
              <a:buClr>
                <a:schemeClr val="accent5"/>
              </a:buClr>
              <a:buAutoNum type="arabicPeriod"/>
            </a:pPr>
            <a:r>
              <a:rPr lang="en-CA" sz="2800" dirty="0"/>
              <a:t>No-shows cause unrecoverable loss and wast</a:t>
            </a:r>
            <a:r>
              <a:rPr lang="en-CA" dirty="0"/>
              <a:t>e capacity</a:t>
            </a:r>
            <a:r>
              <a:rPr lang="en-CA" sz="2800" dirty="0"/>
              <a:t>.</a:t>
            </a:r>
            <a:endParaRPr lang="en-CA" dirty="0"/>
          </a:p>
          <a:p>
            <a:pPr marL="514350" indent="-514350">
              <a:buClr>
                <a:schemeClr val="accent5"/>
              </a:buClr>
              <a:buAutoNum type="arabicPeriod"/>
            </a:pPr>
            <a:r>
              <a:rPr lang="en-CA" dirty="0"/>
              <a:t>Delay sensitivity matters along with behaviour post probability.</a:t>
            </a:r>
          </a:p>
          <a:p>
            <a:pPr marL="514350" indent="-514350">
              <a:buClr>
                <a:schemeClr val="accent5"/>
              </a:buClr>
              <a:buAutoNum type="arabicPeriod"/>
            </a:pPr>
            <a:r>
              <a:rPr lang="en-CA" dirty="0"/>
              <a:t>Balking increase impact both classes' served rate while no-show only impact its own class’s served rate.</a:t>
            </a:r>
          </a:p>
          <a:p>
            <a:pPr marL="514350" indent="-514350">
              <a:buClr>
                <a:schemeClr val="accent5"/>
              </a:buClr>
              <a:buAutoNum type="arabicPeriod"/>
            </a:pPr>
            <a:r>
              <a:rPr lang="en-CA" dirty="0"/>
              <a:t>No-show post probability matters more than threshold gap for served rate.</a:t>
            </a:r>
          </a:p>
          <a:p>
            <a:pPr marL="514350" indent="-514350">
              <a:buClr>
                <a:schemeClr val="accent5"/>
              </a:buClr>
              <a:buAutoNum type="arabicPeriod"/>
            </a:pPr>
            <a:r>
              <a:rPr lang="en-CA" dirty="0"/>
              <a:t>Balking post probability has minimal effects on served rate.</a:t>
            </a:r>
          </a:p>
          <a:p>
            <a:pPr marL="514350" indent="-514350">
              <a:buClr>
                <a:schemeClr val="accent5"/>
              </a:buClr>
              <a:buAutoNum type="arabicPeriod"/>
            </a:pPr>
            <a:r>
              <a:rPr lang="en-CA" dirty="0"/>
              <a:t>Cancellation redistributes access and service between classes.</a:t>
            </a:r>
          </a:p>
          <a:p>
            <a:pPr marL="514350" indent="-514350">
              <a:buAutoNum type="arabicPeriod"/>
            </a:pPr>
            <a:endParaRPr lang="en-CA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D9AF329-6B10-4FAC-99AC-950372B42C76}"/>
              </a:ext>
            </a:extLst>
          </p:cNvPr>
          <p:cNvCxnSpPr>
            <a:cxnSpLocks/>
          </p:cNvCxnSpPr>
          <p:nvPr/>
        </p:nvCxnSpPr>
        <p:spPr>
          <a:xfrm flipV="1">
            <a:off x="900663" y="1290484"/>
            <a:ext cx="10190124" cy="803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503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E487-300A-4E44-8944-CDBA1EEEB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326048"/>
            <a:ext cx="10744200" cy="1325563"/>
          </a:xfrm>
        </p:spPr>
        <p:txBody>
          <a:bodyPr/>
          <a:lstStyle/>
          <a:p>
            <a:r>
              <a:rPr lang="en-CA" dirty="0"/>
              <a:t>Next Step: can scheduling policy reduce harm?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67AFB-0276-4A59-89D0-765041CE1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5"/>
              </a:buClr>
            </a:pPr>
            <a:r>
              <a:rPr lang="en-CA" dirty="0"/>
              <a:t>Explore the impact of patient behavior on utilization, served rate, and waiting time when the booking horizon is flexible.</a:t>
            </a:r>
          </a:p>
          <a:p>
            <a:pPr>
              <a:buClr>
                <a:schemeClr val="accent5"/>
              </a:buClr>
            </a:pPr>
            <a:r>
              <a:rPr lang="en-CA" dirty="0"/>
              <a:t>Discover how to optimize metrics by choosing reservation slots and reservation period.</a:t>
            </a:r>
          </a:p>
          <a:p>
            <a:pPr>
              <a:buClr>
                <a:schemeClr val="accent5"/>
              </a:buClr>
            </a:pPr>
            <a:r>
              <a:rPr lang="en-CA" dirty="0"/>
              <a:t>What are the win-win situations of class access and efficiency when policies become flexible?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2A1E28-F564-4CD5-9DE9-11EEA182BE20}"/>
              </a:ext>
            </a:extLst>
          </p:cNvPr>
          <p:cNvCxnSpPr>
            <a:cxnSpLocks/>
          </p:cNvCxnSpPr>
          <p:nvPr/>
        </p:nvCxnSpPr>
        <p:spPr>
          <a:xfrm flipV="1">
            <a:off x="838200" y="1290484"/>
            <a:ext cx="10392697" cy="803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3721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3CD48-42A2-4E86-9C49-FED4D6F61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Policies in consideration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21A18-CA15-4AC4-90FE-BCA5BCB74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9250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sz="3200" dirty="0"/>
              <a:t>Booking horizon   </a:t>
            </a:r>
          </a:p>
          <a:p>
            <a:pPr lvl="1"/>
            <a:r>
              <a:rPr lang="en-CA" sz="2800" dirty="0"/>
              <a:t>The horizon which bookings are restricted to</a:t>
            </a:r>
          </a:p>
          <a:p>
            <a:pPr marL="0" indent="0">
              <a:buNone/>
            </a:pPr>
            <a:endParaRPr lang="en-CA" sz="2000" dirty="0"/>
          </a:p>
          <a:p>
            <a:pPr marL="0" indent="0">
              <a:buNone/>
            </a:pPr>
            <a:r>
              <a:rPr lang="en-CA" sz="3200" dirty="0"/>
              <a:t>2. Reservation</a:t>
            </a:r>
          </a:p>
          <a:p>
            <a:pPr lvl="1"/>
            <a:r>
              <a:rPr lang="en-CA" sz="2800" dirty="0"/>
              <a:t>Allowing one class to have priority for certain appointments.</a:t>
            </a:r>
          </a:p>
          <a:p>
            <a:pPr lvl="1"/>
            <a:r>
              <a:rPr lang="en-CA" sz="2800" dirty="0"/>
              <a:t>This policy chooses both reserved slots per day and overall number of days that slots are reserved.</a:t>
            </a:r>
          </a:p>
          <a:p>
            <a:pPr marL="457200" lvl="1" indent="0">
              <a:buNone/>
            </a:pPr>
            <a:endParaRPr lang="en-CA" sz="2000" dirty="0"/>
          </a:p>
          <a:p>
            <a:pPr marL="0" indent="0">
              <a:buNone/>
            </a:pPr>
            <a:r>
              <a:rPr lang="en-CA" sz="3200" dirty="0"/>
              <a:t>3. Combination of reservation and booking horizon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84AF40-FCDC-49B4-8EEC-D83A493E2ADF}"/>
              </a:ext>
            </a:extLst>
          </p:cNvPr>
          <p:cNvCxnSpPr>
            <a:cxnSpLocks/>
          </p:cNvCxnSpPr>
          <p:nvPr/>
        </p:nvCxnSpPr>
        <p:spPr>
          <a:xfrm>
            <a:off x="698879" y="1399115"/>
            <a:ext cx="10794242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925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C4C4-80CF-4F67-9AFC-77396B476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106" y="365126"/>
            <a:ext cx="4680283" cy="1223768"/>
          </a:xfrm>
        </p:spPr>
        <p:txBody>
          <a:bodyPr/>
          <a:lstStyle/>
          <a:p>
            <a:r>
              <a:rPr lang="en-CA" dirty="0"/>
              <a:t>The 3x3 design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ABBBE3-3517-4CBC-9DA5-9971256BE6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8" t="8381"/>
          <a:stretch/>
        </p:blipFill>
        <p:spPr>
          <a:xfrm>
            <a:off x="1889219" y="1722419"/>
            <a:ext cx="9588461" cy="4348442"/>
          </a:xfrm>
          <a:prstGeom prst="rect">
            <a:avLst/>
          </a:prstGeom>
        </p:spPr>
      </p:pic>
      <p:sp>
        <p:nvSpPr>
          <p:cNvPr id="6" name="Content Placeholder 11">
            <a:extLst>
              <a:ext uri="{FF2B5EF4-FFF2-40B4-BE49-F238E27FC236}">
                <a16:creationId xmlns:a16="http://schemas.microsoft.com/office/drawing/2014/main" id="{BCE7B2C6-53DB-4D73-9819-0B89121C5B18}"/>
              </a:ext>
            </a:extLst>
          </p:cNvPr>
          <p:cNvSpPr txBox="1">
            <a:spLocks/>
          </p:cNvSpPr>
          <p:nvPr/>
        </p:nvSpPr>
        <p:spPr>
          <a:xfrm>
            <a:off x="307984" y="3591240"/>
            <a:ext cx="1581235" cy="1487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2400" dirty="0">
                <a:solidFill>
                  <a:srgbClr val="8671B4"/>
                </a:solidFill>
              </a:rPr>
              <a:t>No-show post probability</a:t>
            </a:r>
          </a:p>
        </p:txBody>
      </p:sp>
      <p:sp>
        <p:nvSpPr>
          <p:cNvPr id="7" name="Content Placeholder 11">
            <a:extLst>
              <a:ext uri="{FF2B5EF4-FFF2-40B4-BE49-F238E27FC236}">
                <a16:creationId xmlns:a16="http://schemas.microsoft.com/office/drawing/2014/main" id="{9933F121-988A-48B2-BCB0-9EC27F13FBF6}"/>
              </a:ext>
            </a:extLst>
          </p:cNvPr>
          <p:cNvSpPr txBox="1">
            <a:spLocks/>
          </p:cNvSpPr>
          <p:nvPr/>
        </p:nvSpPr>
        <p:spPr>
          <a:xfrm>
            <a:off x="5692963" y="1162363"/>
            <a:ext cx="3272590" cy="493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2400" dirty="0">
                <a:solidFill>
                  <a:schemeClr val="accent2">
                    <a:lumMod val="75000"/>
                  </a:schemeClr>
                </a:solidFill>
              </a:rPr>
              <a:t>Balking post probability</a:t>
            </a:r>
          </a:p>
        </p:txBody>
      </p:sp>
    </p:spTree>
    <p:extLst>
      <p:ext uri="{BB962C8B-B14F-4D97-AF65-F5344CB8AC3E}">
        <p14:creationId xmlns:p14="http://schemas.microsoft.com/office/powerpoint/2010/main" val="2858968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9DA39-0AD6-4C52-825B-8541719E5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90" y="487077"/>
            <a:ext cx="11353800" cy="1325563"/>
          </a:xfrm>
        </p:spPr>
        <p:txBody>
          <a:bodyPr/>
          <a:lstStyle/>
          <a:p>
            <a:r>
              <a:rPr lang="en-CA" dirty="0"/>
              <a:t>No-show post probability determines the effectiveness of policies on utilization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BC00A1-DD6A-41E5-BC0B-C344BDF93B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2" r="1310" b="1636"/>
          <a:stretch/>
        </p:blipFill>
        <p:spPr>
          <a:xfrm>
            <a:off x="697846" y="2085473"/>
            <a:ext cx="6823600" cy="421946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948886-C3ED-4BDE-80DB-F4830BED6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3699" y="2361840"/>
            <a:ext cx="3344196" cy="35206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Higher no-show post probability increases the effectiveness of utilization gain from implementing booking horizon policies, reservation policies, and a combination of both.</a:t>
            </a:r>
          </a:p>
        </p:txBody>
      </p:sp>
    </p:spTree>
    <p:extLst>
      <p:ext uri="{BB962C8B-B14F-4D97-AF65-F5344CB8AC3E}">
        <p14:creationId xmlns:p14="http://schemas.microsoft.com/office/powerpoint/2010/main" val="3873336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DC7E-97AD-43A4-A8F4-9BE488FA1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012" y="188145"/>
            <a:ext cx="11771671" cy="1325563"/>
          </a:xfrm>
        </p:spPr>
        <p:txBody>
          <a:bodyPr/>
          <a:lstStyle/>
          <a:p>
            <a:r>
              <a:rPr lang="en-CA" dirty="0"/>
              <a:t>Demand activates the no-show effect on utilization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235FE9C-0B7F-4878-909D-4AE73DEAC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8484" y="1614946"/>
            <a:ext cx="3827207" cy="4800602"/>
          </a:xfrm>
        </p:spPr>
        <p:txBody>
          <a:bodyPr>
            <a:normAutofit lnSpcReduction="10000"/>
          </a:bodyPr>
          <a:lstStyle/>
          <a:p>
            <a:r>
              <a:rPr lang="en-CA" dirty="0"/>
              <a:t>Demand is a necessary component to policies’ utilization effectiveness from no-show post probability.</a:t>
            </a:r>
          </a:p>
          <a:p>
            <a:r>
              <a:rPr lang="en-CA" dirty="0"/>
              <a:t>Reservation is comparatively less effective because the horizon inflexibility pushes patients beyond the no-show delay at higher demand.</a:t>
            </a:r>
          </a:p>
          <a:p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520F4A-BA0F-41BE-A1EC-DE854A2D2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02" y="1614946"/>
            <a:ext cx="7462151" cy="454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030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45B51-3913-420F-8417-28692C8E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74" y="276752"/>
            <a:ext cx="10815747" cy="1087592"/>
          </a:xfrm>
        </p:spPr>
        <p:txBody>
          <a:bodyPr>
            <a:normAutofit fontScale="90000"/>
          </a:bodyPr>
          <a:lstStyle/>
          <a:p>
            <a:r>
              <a:rPr lang="en-CA" dirty="0"/>
              <a:t>When optimizing utilization, horizon is usually cut short to prevent no-shows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540F8F-C6D0-49E5-B6EF-B98989DF51AE}"/>
              </a:ext>
            </a:extLst>
          </p:cNvPr>
          <p:cNvSpPr txBox="1">
            <a:spLocks/>
          </p:cNvSpPr>
          <p:nvPr/>
        </p:nvSpPr>
        <p:spPr>
          <a:xfrm>
            <a:off x="736717" y="5634497"/>
            <a:ext cx="10954540" cy="11674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Higher no-show post probability shortens optimized horizon.</a:t>
            </a:r>
          </a:p>
          <a:p>
            <a:r>
              <a:rPr lang="en-CA" dirty="0"/>
              <a:t>Mean horizon selected is higher when reservation is added to the policy.</a:t>
            </a:r>
          </a:p>
          <a:p>
            <a:r>
              <a:rPr lang="en-CA" dirty="0"/>
              <a:t>Horizon flexibility is more effective at regulating no-show risk than only reservation.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1EB843-BCEA-419D-B433-CAF11B37FE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88" b="7530"/>
          <a:stretch/>
        </p:blipFill>
        <p:spPr>
          <a:xfrm>
            <a:off x="1751510" y="1503064"/>
            <a:ext cx="8688980" cy="40580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0A0E14-0E4E-4709-890D-B63961ED25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667"/>
          <a:stretch/>
        </p:blipFill>
        <p:spPr>
          <a:xfrm>
            <a:off x="1295521" y="1391251"/>
            <a:ext cx="9600958" cy="29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07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A7A4C-F609-4B97-B2A7-B9A2F7AEA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161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We are looking for improvements from reservations policies on </a:t>
            </a:r>
            <a:r>
              <a:rPr lang="en-CA" b="1" dirty="0"/>
              <a:t>served rate </a:t>
            </a:r>
            <a:r>
              <a:rPr lang="en-CA" dirty="0"/>
              <a:t>while maintaining within -0.5% of optimized utilization.</a:t>
            </a:r>
          </a:p>
          <a:p>
            <a:pPr marL="0" indent="0">
              <a:buNone/>
            </a:pPr>
            <a:endParaRPr lang="en-CA" sz="1400" dirty="0"/>
          </a:p>
          <a:p>
            <a:pPr marL="0" indent="0">
              <a:buNone/>
            </a:pPr>
            <a:r>
              <a:rPr lang="en-CA" dirty="0"/>
              <a:t>A representative example:</a:t>
            </a:r>
          </a:p>
          <a:p>
            <a:pPr marL="0" indent="0">
              <a:buNone/>
            </a:pPr>
            <a:r>
              <a:rPr lang="en-CA" dirty="0"/>
              <a:t>Let Class 1 be the reservation class and the most delay-sensitive class</a:t>
            </a:r>
          </a:p>
          <a:p>
            <a:endParaRPr lang="en-CA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9C645C-6F01-4A04-930B-BC1EF5172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</p:spPr>
        <p:txBody>
          <a:bodyPr/>
          <a:lstStyle/>
          <a:p>
            <a:r>
              <a:rPr lang="en-CA" dirty="0"/>
              <a:t>When can reservations improve Class 1 access without hurting Class 2?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3CF395-32B6-43C8-863E-A389023B4F14}"/>
              </a:ext>
            </a:extLst>
          </p:cNvPr>
          <p:cNvCxnSpPr>
            <a:cxnSpLocks/>
          </p:cNvCxnSpPr>
          <p:nvPr/>
        </p:nvCxnSpPr>
        <p:spPr>
          <a:xfrm>
            <a:off x="905356" y="1624700"/>
            <a:ext cx="10794242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6C0D4AA-AD67-4B88-92BF-F2BBBB9B53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34" b="40861"/>
          <a:stretch/>
        </p:blipFill>
        <p:spPr>
          <a:xfrm>
            <a:off x="354080" y="4138367"/>
            <a:ext cx="11649383" cy="229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38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EFFAE-FAAC-489E-940F-4BACE00C4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0915"/>
            <a:ext cx="10515600" cy="1203785"/>
          </a:xfrm>
        </p:spPr>
        <p:txBody>
          <a:bodyPr>
            <a:normAutofit fontScale="90000"/>
          </a:bodyPr>
          <a:lstStyle/>
          <a:p>
            <a:r>
              <a:rPr lang="en-CA" dirty="0"/>
              <a:t>When can reservations improve Class 1 access without hurting Class 2?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6B679-2893-47B0-B1C7-B701E0D57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8469"/>
            <a:ext cx="10515600" cy="2142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No validated cases of meaningful improvements to both classes.</a:t>
            </a:r>
          </a:p>
          <a:p>
            <a:pPr marL="0" indent="0">
              <a:buNone/>
            </a:pPr>
            <a:endParaRPr lang="en-CA" sz="1600" dirty="0"/>
          </a:p>
          <a:p>
            <a:pPr marL="0" indent="0">
              <a:buNone/>
            </a:pPr>
            <a:r>
              <a:rPr lang="en-CA" dirty="0"/>
              <a:t>However, while </a:t>
            </a:r>
            <a:r>
              <a:rPr lang="en-CA" b="1" dirty="0"/>
              <a:t>utilization</a:t>
            </a:r>
            <a:r>
              <a:rPr lang="en-CA" dirty="0"/>
              <a:t> is maximized, we can improve Class 1’s served rate while not meaningfully impacting Class 2.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4858D7-4852-4244-8D86-E1392E148372}"/>
              </a:ext>
            </a:extLst>
          </p:cNvPr>
          <p:cNvCxnSpPr>
            <a:cxnSpLocks/>
          </p:cNvCxnSpPr>
          <p:nvPr/>
        </p:nvCxnSpPr>
        <p:spPr>
          <a:xfrm>
            <a:off x="905356" y="1624700"/>
            <a:ext cx="10794242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B884566-8A90-4FE8-9387-3A35E21269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11" b="5329"/>
          <a:stretch/>
        </p:blipFill>
        <p:spPr>
          <a:xfrm>
            <a:off x="745699" y="3701141"/>
            <a:ext cx="10324566" cy="284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04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03C96-8434-4024-A69B-09EB44246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942" y="227660"/>
            <a:ext cx="5021943" cy="577400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CA" sz="3200" dirty="0"/>
              <a:t>Reservation-only </a:t>
            </a:r>
            <a:endParaRPr lang="en-CA" dirty="0"/>
          </a:p>
          <a:p>
            <a:r>
              <a:rPr lang="en-CA" sz="2800" dirty="0"/>
              <a:t>The policy with the largest C1 gain among favourable cases.</a:t>
            </a:r>
          </a:p>
          <a:p>
            <a:r>
              <a:rPr lang="en-CA" dirty="0"/>
              <a:t>Win-neutral happens when:</a:t>
            </a:r>
          </a:p>
          <a:p>
            <a:pPr marL="914400" lvl="1" indent="-457200">
              <a:buAutoNum type="arabicPeriod"/>
            </a:pPr>
            <a:r>
              <a:rPr lang="en-CA" sz="2800" dirty="0"/>
              <a:t>Class 1 is a small portion of the queueing population.</a:t>
            </a:r>
          </a:p>
          <a:p>
            <a:pPr marL="971550" lvl="1" indent="-514350">
              <a:buAutoNum type="arabicPeriod"/>
            </a:pPr>
            <a:r>
              <a:rPr lang="en-CA" sz="2800" dirty="0"/>
              <a:t>There is moderate to heavy demand.</a:t>
            </a:r>
          </a:p>
          <a:p>
            <a:pPr marL="971550" lvl="1" indent="-514350">
              <a:buAutoNum type="arabicPeriod"/>
            </a:pPr>
            <a:r>
              <a:rPr lang="en-CA" sz="2800" dirty="0"/>
              <a:t>More common with higher no-show severity.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97AD611-CD5D-4B20-AC8A-E102D79744FD}"/>
              </a:ext>
            </a:extLst>
          </p:cNvPr>
          <p:cNvSpPr txBox="1">
            <a:spLocks/>
          </p:cNvSpPr>
          <p:nvPr/>
        </p:nvSpPr>
        <p:spPr>
          <a:xfrm>
            <a:off x="6466115" y="243702"/>
            <a:ext cx="5021943" cy="4840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CA" sz="3200" dirty="0"/>
              <a:t>Both-flexible 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Win-neutral happens when: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sz="2800" dirty="0"/>
              <a:t>Class 1 is a small portion of the queueing population.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sz="2800" dirty="0"/>
              <a:t>There is heavy demand.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sz="2800" dirty="0"/>
              <a:t>No clear behavioral severity trend.</a:t>
            </a:r>
          </a:p>
          <a:p>
            <a:endParaRPr lang="en-CA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5A66FDF-B850-4538-9C2B-581313CF162C}"/>
              </a:ext>
            </a:extLst>
          </p:cNvPr>
          <p:cNvSpPr txBox="1">
            <a:spLocks/>
          </p:cNvSpPr>
          <p:nvPr/>
        </p:nvSpPr>
        <p:spPr>
          <a:xfrm>
            <a:off x="910390" y="5803219"/>
            <a:ext cx="10262933" cy="7259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dirty="0"/>
              <a:t>Class 2 is more delay-tolerant in this design to allow the win/neutral cases the to happen.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71C48E-0666-4D26-BCC6-7A9BB4D06421}"/>
              </a:ext>
            </a:extLst>
          </p:cNvPr>
          <p:cNvCxnSpPr>
            <a:cxnSpLocks/>
          </p:cNvCxnSpPr>
          <p:nvPr/>
        </p:nvCxnSpPr>
        <p:spPr>
          <a:xfrm>
            <a:off x="6096000" y="748642"/>
            <a:ext cx="0" cy="484051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368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946CF-7314-497E-9E6A-3811CD820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57" y="379866"/>
            <a:ext cx="10972800" cy="1325563"/>
          </a:xfrm>
        </p:spPr>
        <p:txBody>
          <a:bodyPr/>
          <a:lstStyle/>
          <a:p>
            <a:r>
              <a:rPr lang="en-CA" dirty="0"/>
              <a:t>Looking pass utilization, where are class access Pareto improvements in served rate?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D39CB-00E4-4784-AF61-61D694A46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356" y="1705430"/>
            <a:ext cx="10065657" cy="953744"/>
          </a:xfrm>
        </p:spPr>
        <p:txBody>
          <a:bodyPr>
            <a:normAutofit/>
          </a:bodyPr>
          <a:lstStyle/>
          <a:p>
            <a:r>
              <a:rPr lang="en-CA" sz="2600" dirty="0"/>
              <a:t>When ignoring utilization, what patterns can we draw from pareto policy improvements?</a:t>
            </a:r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0D65F67-0DF6-4B49-A915-4B9E95A713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632" y="2558210"/>
            <a:ext cx="7247518" cy="4060299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7293C9-5A50-4FA8-87E3-75749B0E9765}"/>
              </a:ext>
            </a:extLst>
          </p:cNvPr>
          <p:cNvCxnSpPr>
            <a:cxnSpLocks/>
          </p:cNvCxnSpPr>
          <p:nvPr/>
        </p:nvCxnSpPr>
        <p:spPr>
          <a:xfrm>
            <a:off x="905356" y="1624700"/>
            <a:ext cx="10794242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7F4FBB-D608-49F1-A32B-B9FC0610F4E0}"/>
              </a:ext>
            </a:extLst>
          </p:cNvPr>
          <p:cNvSpPr txBox="1">
            <a:spLocks/>
          </p:cNvSpPr>
          <p:nvPr/>
        </p:nvSpPr>
        <p:spPr>
          <a:xfrm>
            <a:off x="8418286" y="3702670"/>
            <a:ext cx="3374571" cy="1872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400" dirty="0"/>
              <a:t>There are no validated reservation-only scenarios</a:t>
            </a:r>
          </a:p>
        </p:txBody>
      </p:sp>
    </p:spTree>
    <p:extLst>
      <p:ext uri="{BB962C8B-B14F-4D97-AF65-F5344CB8AC3E}">
        <p14:creationId xmlns:p14="http://schemas.microsoft.com/office/powerpoint/2010/main" val="469314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E9B9B-1AF9-409B-B6DF-3EEEAE2F4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375"/>
            <a:ext cx="10515600" cy="1325563"/>
          </a:xfrm>
        </p:spPr>
        <p:txBody>
          <a:bodyPr/>
          <a:lstStyle/>
          <a:p>
            <a:r>
              <a:rPr lang="en-CA" dirty="0"/>
              <a:t>No-show matters more than balking in Pareto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EC4D3B-FF14-43EF-A726-3F2DBC2082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479" y="1339465"/>
            <a:ext cx="7601727" cy="4282449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F793BB-9975-43F0-8E0B-8FB23F56FCCA}"/>
              </a:ext>
            </a:extLst>
          </p:cNvPr>
          <p:cNvSpPr txBox="1">
            <a:spLocks/>
          </p:cNvSpPr>
          <p:nvPr/>
        </p:nvSpPr>
        <p:spPr>
          <a:xfrm>
            <a:off x="838200" y="5705943"/>
            <a:ext cx="10515600" cy="873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dirty="0"/>
              <a:t>There is a clear trend that higher no-shows lead to more Pareto opportunities with a more delay-tolerant Class 2.</a:t>
            </a:r>
          </a:p>
        </p:txBody>
      </p:sp>
    </p:spTree>
    <p:extLst>
      <p:ext uri="{BB962C8B-B14F-4D97-AF65-F5344CB8AC3E}">
        <p14:creationId xmlns:p14="http://schemas.microsoft.com/office/powerpoint/2010/main" val="2139693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6253-99D5-4B4E-923C-ABDAE947B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866" y="0"/>
            <a:ext cx="11057017" cy="1325563"/>
          </a:xfrm>
        </p:spPr>
        <p:txBody>
          <a:bodyPr/>
          <a:lstStyle/>
          <a:p>
            <a:r>
              <a:rPr lang="en-CA" dirty="0"/>
              <a:t>Scale and Pareto improvements in both-flexible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62A83-1134-46ED-BD9C-69E7E5AE6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474" y="4997117"/>
            <a:ext cx="10515600" cy="1718970"/>
          </a:xfrm>
        </p:spPr>
        <p:txBody>
          <a:bodyPr>
            <a:normAutofit/>
          </a:bodyPr>
          <a:lstStyle/>
          <a:p>
            <a:r>
              <a:rPr lang="en-CA" sz="2600" dirty="0"/>
              <a:t>At lower Class 1 shares, larger systems appear more favorable; as Class 1 becomes dominant, the favorable region shifts toward smaller or intermediate systems.</a:t>
            </a:r>
          </a:p>
          <a:p>
            <a:r>
              <a:rPr lang="en-CA" sz="2600" dirty="0"/>
              <a:t>Note: Scale does not equal to capacity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A2345C-6A41-48E7-817D-7316711F93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76"/>
          <a:stretch/>
        </p:blipFill>
        <p:spPr>
          <a:xfrm>
            <a:off x="2109537" y="905663"/>
            <a:ext cx="7912769" cy="409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32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ACCC1-2424-4278-A146-004387706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157" y="195944"/>
            <a:ext cx="10983686" cy="1325563"/>
          </a:xfrm>
        </p:spPr>
        <p:txBody>
          <a:bodyPr>
            <a:normAutofit/>
          </a:bodyPr>
          <a:lstStyle/>
          <a:p>
            <a:r>
              <a:rPr lang="en-CA" sz="4000" dirty="0"/>
              <a:t>In the served rate Pareto improvements, utilization is still higher than no policy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B797BD-36E6-4B03-9681-A65AC30146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494" y="1634473"/>
            <a:ext cx="6498349" cy="4014224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F05B63-AA7B-4086-8F04-FB76C2BE4ABF}"/>
              </a:ext>
            </a:extLst>
          </p:cNvPr>
          <p:cNvSpPr txBox="1">
            <a:spLocks/>
          </p:cNvSpPr>
          <p:nvPr/>
        </p:nvSpPr>
        <p:spPr>
          <a:xfrm>
            <a:off x="932543" y="5761663"/>
            <a:ext cx="10515600" cy="9003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dirty="0"/>
              <a:t>Both flexible policy has a higher median positive change than horizon only in the Pareto improvement scenarios.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642098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B856C-ED11-4DD3-86B2-71F54FBF9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630"/>
            <a:ext cx="10515600" cy="1325563"/>
          </a:xfrm>
        </p:spPr>
        <p:txBody>
          <a:bodyPr/>
          <a:lstStyle/>
          <a:p>
            <a:r>
              <a:rPr lang="en-CA" dirty="0"/>
              <a:t>Pareto improvement scenario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B0367-9AB9-4C89-BA09-80A6B4423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9016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CA" dirty="0"/>
              <a:t>There are no validated Pareto improvements for reservation-only.</a:t>
            </a:r>
          </a:p>
          <a:p>
            <a:pPr marL="514350" indent="-514350">
              <a:buAutoNum type="arabicPeriod"/>
            </a:pPr>
            <a:r>
              <a:rPr lang="en-CA" dirty="0"/>
              <a:t>Higher Class 1 no-show creates more environments for Pareto improvements when Class 2 is more delay-tolerant.</a:t>
            </a:r>
          </a:p>
          <a:p>
            <a:pPr marL="514350" indent="-514350">
              <a:buAutoNum type="arabicPeriod"/>
            </a:pPr>
            <a:r>
              <a:rPr lang="en-CA" dirty="0"/>
              <a:t>Smaller scale Pareto backgrounds happen when Class 1 arrival is very dominant.</a:t>
            </a:r>
          </a:p>
          <a:p>
            <a:pPr marL="514350" indent="-514350">
              <a:buAutoNum type="arabicPeriod"/>
            </a:pPr>
            <a:r>
              <a:rPr lang="en-CA" dirty="0"/>
              <a:t>Larger scale Pareto backgrounds can occur with lower Class 1 patient arrival percentage.</a:t>
            </a:r>
          </a:p>
          <a:p>
            <a:pPr marL="514350" indent="-514350">
              <a:buAutoNum type="arabicPeriod"/>
            </a:pPr>
            <a:r>
              <a:rPr lang="en-CA" dirty="0"/>
              <a:t>In searching for Pareto served rate scenarios from implementing policies, utilization also improves.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475D9C-3C69-49C3-A0F5-1C426C368B50}"/>
              </a:ext>
            </a:extLst>
          </p:cNvPr>
          <p:cNvCxnSpPr>
            <a:cxnSpLocks/>
          </p:cNvCxnSpPr>
          <p:nvPr/>
        </p:nvCxnSpPr>
        <p:spPr>
          <a:xfrm>
            <a:off x="905356" y="1624700"/>
            <a:ext cx="10794242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8575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E0AC-B9EF-4FB8-9662-600A55F04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746"/>
            <a:ext cx="10515600" cy="1325563"/>
          </a:xfrm>
        </p:spPr>
        <p:txBody>
          <a:bodyPr/>
          <a:lstStyle/>
          <a:p>
            <a:r>
              <a:rPr lang="en-CA" dirty="0"/>
              <a:t>Horizons Chosen in Pareto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A61C7E-3A67-4191-A09D-E74BD77D99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73"/>
          <a:stretch/>
        </p:blipFill>
        <p:spPr>
          <a:xfrm>
            <a:off x="1607906" y="1242386"/>
            <a:ext cx="8976188" cy="456573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075D600-FB0E-4627-8E02-F5244F85B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17017"/>
            <a:ext cx="10515600" cy="987342"/>
          </a:xfrm>
        </p:spPr>
        <p:txBody>
          <a:bodyPr/>
          <a:lstStyle/>
          <a:p>
            <a:r>
              <a:rPr lang="en-CA" dirty="0"/>
              <a:t>Many scenarios are shortened to avoid cancellations, especially at low demands. </a:t>
            </a:r>
          </a:p>
        </p:txBody>
      </p:sp>
    </p:spTree>
    <p:extLst>
      <p:ext uri="{BB962C8B-B14F-4D97-AF65-F5344CB8AC3E}">
        <p14:creationId xmlns:p14="http://schemas.microsoft.com/office/powerpoint/2010/main" val="392543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452F2-D707-49D3-A4CD-F77670A4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8770"/>
          </a:xfrm>
        </p:spPr>
        <p:txBody>
          <a:bodyPr/>
          <a:lstStyle/>
          <a:p>
            <a:r>
              <a:rPr lang="en-CA" dirty="0"/>
              <a:t>Reservation Percentage in Pareto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9E479-D0A3-4EAC-A046-93E16DC4C3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44"/>
          <a:stretch/>
        </p:blipFill>
        <p:spPr>
          <a:xfrm>
            <a:off x="1864888" y="1307182"/>
            <a:ext cx="8462223" cy="41153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94EA447-2B05-4296-98A5-D8171771E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14987"/>
            <a:ext cx="10515600" cy="987342"/>
          </a:xfrm>
        </p:spPr>
        <p:txBody>
          <a:bodyPr/>
          <a:lstStyle/>
          <a:p>
            <a:r>
              <a:rPr lang="en-CA" dirty="0"/>
              <a:t>The median reservation percentage is consistent across no-show post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2002094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11296</TotalTime>
  <Words>1342</Words>
  <Application>Microsoft Office PowerPoint</Application>
  <PresentationFormat>Widescreen</PresentationFormat>
  <Paragraphs>173</Paragraphs>
  <Slides>30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Delay-Sensitive Behavior and Patient Access in First Come First Serve</vt:lpstr>
      <vt:lpstr>PowerPoint Presentation</vt:lpstr>
      <vt:lpstr>Patient delay-sensitive behaviors</vt:lpstr>
      <vt:lpstr>PowerPoint Presentation</vt:lpstr>
      <vt:lpstr>Threshold mechanisms: probabilities and delay </vt:lpstr>
      <vt:lpstr>Demand is a big driver of served rate compounded by no-show</vt:lpstr>
      <vt:lpstr>Under heavy demand, balking post probability shifts appointments to the more wait-tolerant group</vt:lpstr>
      <vt:lpstr>No-shows reduce average utilization and cause unrecoverable loss</vt:lpstr>
      <vt:lpstr>No-show vs. balking, how do they affect served rate?</vt:lpstr>
      <vt:lpstr>No-show heavily impacts the class’s own served rate</vt:lpstr>
      <vt:lpstr>Balking impacts both classes’ served rate</vt:lpstr>
      <vt:lpstr>Summary - no-show vs. balking on served rate</vt:lpstr>
      <vt:lpstr>Cancellation redistributes access and does not waste capacity</vt:lpstr>
      <vt:lpstr>Summary</vt:lpstr>
      <vt:lpstr>Next Step: can scheduling policy reduce harm?</vt:lpstr>
      <vt:lpstr>Policies in consideration</vt:lpstr>
      <vt:lpstr>The 3x3 design</vt:lpstr>
      <vt:lpstr>No-show post probability determines the effectiveness of policies on utilization</vt:lpstr>
      <vt:lpstr>Demand activates the no-show effect on utilization</vt:lpstr>
      <vt:lpstr>When optimizing utilization, horizon is usually cut short to prevent no-shows</vt:lpstr>
      <vt:lpstr>When can reservations improve Class 1 access without hurting Class 2?</vt:lpstr>
      <vt:lpstr>When can reservations improve Class 1 access without hurting Class 2?</vt:lpstr>
      <vt:lpstr>PowerPoint Presentation</vt:lpstr>
      <vt:lpstr>Looking pass utilization, where are class access Pareto improvements in served rate?</vt:lpstr>
      <vt:lpstr>No-show matters more than balking in Pareto</vt:lpstr>
      <vt:lpstr>Scale and Pareto improvements in both-flexible</vt:lpstr>
      <vt:lpstr>In the served rate Pareto improvements, utilization is still higher than no policy</vt:lpstr>
      <vt:lpstr>Pareto improvement scenario summary</vt:lpstr>
      <vt:lpstr>Horizons Chosen in Pareto</vt:lpstr>
      <vt:lpstr>Reservation Percentage in Pareto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Tracy Yang</dc:creator>
  <cp:lastModifiedBy>Tracy Yang</cp:lastModifiedBy>
  <cp:revision>217</cp:revision>
  <dcterms:created xsi:type="dcterms:W3CDTF">2026-08-11T19:15:44Z</dcterms:created>
  <dcterms:modified xsi:type="dcterms:W3CDTF">2026-10-15T01:04:46Z</dcterms:modified>
</cp:coreProperties>
</file>